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1" d="100"/>
          <a:sy n="71" d="100"/>
        </p:scale>
        <p:origin x="69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1496AE-C773-4089-BE11-88CFB0AC543D}"/>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NI"/>
          </a:p>
        </p:txBody>
      </p:sp>
      <p:sp>
        <p:nvSpPr>
          <p:cNvPr id="3" name="Subtítulo 2">
            <a:extLst>
              <a:ext uri="{FF2B5EF4-FFF2-40B4-BE49-F238E27FC236}">
                <a16:creationId xmlns:a16="http://schemas.microsoft.com/office/drawing/2014/main" id="{1EF4F21B-C938-42B7-B464-E193EC3C77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NI"/>
          </a:p>
        </p:txBody>
      </p:sp>
      <p:sp>
        <p:nvSpPr>
          <p:cNvPr id="4" name="Marcador de fecha 3">
            <a:extLst>
              <a:ext uri="{FF2B5EF4-FFF2-40B4-BE49-F238E27FC236}">
                <a16:creationId xmlns:a16="http://schemas.microsoft.com/office/drawing/2014/main" id="{97AC5409-ABF0-4D18-B83C-51C120E7F3E5}"/>
              </a:ext>
            </a:extLst>
          </p:cNvPr>
          <p:cNvSpPr>
            <a:spLocks noGrp="1"/>
          </p:cNvSpPr>
          <p:nvPr>
            <p:ph type="dt" sz="half" idx="10"/>
          </p:nvPr>
        </p:nvSpPr>
        <p:spPr/>
        <p:txBody>
          <a:bodyPr/>
          <a:lstStyle/>
          <a:p>
            <a:fld id="{7125D04E-764C-4596-95CA-9BEE38DAC7C3}" type="datetimeFigureOut">
              <a:rPr lang="es-NI" smtClean="0"/>
              <a:t>9/9/2026</a:t>
            </a:fld>
            <a:endParaRPr lang="es-NI"/>
          </a:p>
        </p:txBody>
      </p:sp>
      <p:sp>
        <p:nvSpPr>
          <p:cNvPr id="5" name="Marcador de pie de página 4">
            <a:extLst>
              <a:ext uri="{FF2B5EF4-FFF2-40B4-BE49-F238E27FC236}">
                <a16:creationId xmlns:a16="http://schemas.microsoft.com/office/drawing/2014/main" id="{192125BD-5FCC-43AA-A205-0B51D96292F6}"/>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8C9BA88A-5249-4227-9540-65B4F856795C}"/>
              </a:ext>
            </a:extLst>
          </p:cNvPr>
          <p:cNvSpPr>
            <a:spLocks noGrp="1"/>
          </p:cNvSpPr>
          <p:nvPr>
            <p:ph type="sldNum" sz="quarter" idx="12"/>
          </p:nvPr>
        </p:nvSpPr>
        <p:spPr/>
        <p:txBody>
          <a:bodyPr/>
          <a:lstStyle/>
          <a:p>
            <a:fld id="{F106D25C-6381-4F65-8463-01DA60EF91EF}" type="slidenum">
              <a:rPr lang="es-NI" smtClean="0"/>
              <a:t>‹Nº›</a:t>
            </a:fld>
            <a:endParaRPr lang="es-NI"/>
          </a:p>
        </p:txBody>
      </p:sp>
    </p:spTree>
    <p:extLst>
      <p:ext uri="{BB962C8B-B14F-4D97-AF65-F5344CB8AC3E}">
        <p14:creationId xmlns:p14="http://schemas.microsoft.com/office/powerpoint/2010/main" val="4110954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68EDA6-0B08-4E14-9562-3EF49D7D561C}"/>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CDB297F3-71D9-4BE8-8AA5-EFF19FF2FE2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ECF60363-4738-461C-9A85-B66ABF94E445}"/>
              </a:ext>
            </a:extLst>
          </p:cNvPr>
          <p:cNvSpPr>
            <a:spLocks noGrp="1"/>
          </p:cNvSpPr>
          <p:nvPr>
            <p:ph type="dt" sz="half" idx="10"/>
          </p:nvPr>
        </p:nvSpPr>
        <p:spPr/>
        <p:txBody>
          <a:bodyPr/>
          <a:lstStyle/>
          <a:p>
            <a:fld id="{7125D04E-764C-4596-95CA-9BEE38DAC7C3}" type="datetimeFigureOut">
              <a:rPr lang="es-NI" smtClean="0"/>
              <a:t>9/9/2026</a:t>
            </a:fld>
            <a:endParaRPr lang="es-NI"/>
          </a:p>
        </p:txBody>
      </p:sp>
      <p:sp>
        <p:nvSpPr>
          <p:cNvPr id="5" name="Marcador de pie de página 4">
            <a:extLst>
              <a:ext uri="{FF2B5EF4-FFF2-40B4-BE49-F238E27FC236}">
                <a16:creationId xmlns:a16="http://schemas.microsoft.com/office/drawing/2014/main" id="{71AF182A-FE83-404A-989A-F6B9A6AB19AA}"/>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C4D9D694-5C6A-4931-9E7E-692B80E279AC}"/>
              </a:ext>
            </a:extLst>
          </p:cNvPr>
          <p:cNvSpPr>
            <a:spLocks noGrp="1"/>
          </p:cNvSpPr>
          <p:nvPr>
            <p:ph type="sldNum" sz="quarter" idx="12"/>
          </p:nvPr>
        </p:nvSpPr>
        <p:spPr/>
        <p:txBody>
          <a:bodyPr/>
          <a:lstStyle/>
          <a:p>
            <a:fld id="{F106D25C-6381-4F65-8463-01DA60EF91EF}" type="slidenum">
              <a:rPr lang="es-NI" smtClean="0"/>
              <a:t>‹Nº›</a:t>
            </a:fld>
            <a:endParaRPr lang="es-NI"/>
          </a:p>
        </p:txBody>
      </p:sp>
    </p:spTree>
    <p:extLst>
      <p:ext uri="{BB962C8B-B14F-4D97-AF65-F5344CB8AC3E}">
        <p14:creationId xmlns:p14="http://schemas.microsoft.com/office/powerpoint/2010/main" val="1753755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D5A0FA-5E6C-48F1-BBD5-C6F776ECD883}"/>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927FF005-8449-4971-BBFF-47A1850FBA2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F95AA0AA-C3CF-4404-878F-43FED9337A09}"/>
              </a:ext>
            </a:extLst>
          </p:cNvPr>
          <p:cNvSpPr>
            <a:spLocks noGrp="1"/>
          </p:cNvSpPr>
          <p:nvPr>
            <p:ph type="dt" sz="half" idx="10"/>
          </p:nvPr>
        </p:nvSpPr>
        <p:spPr/>
        <p:txBody>
          <a:bodyPr/>
          <a:lstStyle/>
          <a:p>
            <a:fld id="{7125D04E-764C-4596-95CA-9BEE38DAC7C3}" type="datetimeFigureOut">
              <a:rPr lang="es-NI" smtClean="0"/>
              <a:t>9/9/2026</a:t>
            </a:fld>
            <a:endParaRPr lang="es-NI"/>
          </a:p>
        </p:txBody>
      </p:sp>
      <p:sp>
        <p:nvSpPr>
          <p:cNvPr id="5" name="Marcador de pie de página 4">
            <a:extLst>
              <a:ext uri="{FF2B5EF4-FFF2-40B4-BE49-F238E27FC236}">
                <a16:creationId xmlns:a16="http://schemas.microsoft.com/office/drawing/2014/main" id="{ECD78B4D-358E-4171-B5FF-CD743CBD2C57}"/>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2C40B62D-76AA-401A-853F-C9649BD0012F}"/>
              </a:ext>
            </a:extLst>
          </p:cNvPr>
          <p:cNvSpPr>
            <a:spLocks noGrp="1"/>
          </p:cNvSpPr>
          <p:nvPr>
            <p:ph type="sldNum" sz="quarter" idx="12"/>
          </p:nvPr>
        </p:nvSpPr>
        <p:spPr/>
        <p:txBody>
          <a:bodyPr/>
          <a:lstStyle/>
          <a:p>
            <a:fld id="{F106D25C-6381-4F65-8463-01DA60EF91EF}" type="slidenum">
              <a:rPr lang="es-NI" smtClean="0"/>
              <a:t>‹Nº›</a:t>
            </a:fld>
            <a:endParaRPr lang="es-NI"/>
          </a:p>
        </p:txBody>
      </p:sp>
    </p:spTree>
    <p:extLst>
      <p:ext uri="{BB962C8B-B14F-4D97-AF65-F5344CB8AC3E}">
        <p14:creationId xmlns:p14="http://schemas.microsoft.com/office/powerpoint/2010/main" val="12834438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F42E9D-1EDA-4E11-855D-ED1A30DA3106}"/>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9DA89DFE-079C-49ED-A78D-99C79354CF74}"/>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contenido 3">
            <a:extLst>
              <a:ext uri="{FF2B5EF4-FFF2-40B4-BE49-F238E27FC236}">
                <a16:creationId xmlns:a16="http://schemas.microsoft.com/office/drawing/2014/main" id="{620C2C3B-39BD-4A62-B950-76D5DEF06620}"/>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5" name="Marcador de fecha 4">
            <a:extLst>
              <a:ext uri="{FF2B5EF4-FFF2-40B4-BE49-F238E27FC236}">
                <a16:creationId xmlns:a16="http://schemas.microsoft.com/office/drawing/2014/main" id="{6E40904A-3C0D-4388-80C2-AE2FA0296DC2}"/>
              </a:ext>
            </a:extLst>
          </p:cNvPr>
          <p:cNvSpPr>
            <a:spLocks noGrp="1"/>
          </p:cNvSpPr>
          <p:nvPr>
            <p:ph type="dt" sz="half" idx="10"/>
          </p:nvPr>
        </p:nvSpPr>
        <p:spPr/>
        <p:txBody>
          <a:bodyPr/>
          <a:lstStyle/>
          <a:p>
            <a:fld id="{7125D04E-764C-4596-95CA-9BEE38DAC7C3}" type="datetimeFigureOut">
              <a:rPr lang="es-NI" smtClean="0"/>
              <a:t>9/9/2026</a:t>
            </a:fld>
            <a:endParaRPr lang="es-NI"/>
          </a:p>
        </p:txBody>
      </p:sp>
      <p:sp>
        <p:nvSpPr>
          <p:cNvPr id="6" name="Marcador de pie de página 5">
            <a:extLst>
              <a:ext uri="{FF2B5EF4-FFF2-40B4-BE49-F238E27FC236}">
                <a16:creationId xmlns:a16="http://schemas.microsoft.com/office/drawing/2014/main" id="{F8E31160-8943-4998-8242-28EC509BDCB7}"/>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9046DB91-1414-4344-9529-A5BFFB2C6471}"/>
              </a:ext>
            </a:extLst>
          </p:cNvPr>
          <p:cNvSpPr>
            <a:spLocks noGrp="1"/>
          </p:cNvSpPr>
          <p:nvPr>
            <p:ph type="sldNum" sz="quarter" idx="12"/>
          </p:nvPr>
        </p:nvSpPr>
        <p:spPr/>
        <p:txBody>
          <a:bodyPr/>
          <a:lstStyle/>
          <a:p>
            <a:fld id="{F106D25C-6381-4F65-8463-01DA60EF91EF}" type="slidenum">
              <a:rPr lang="es-NI" smtClean="0"/>
              <a:t>‹Nº›</a:t>
            </a:fld>
            <a:endParaRPr lang="es-NI"/>
          </a:p>
        </p:txBody>
      </p:sp>
    </p:spTree>
    <p:extLst>
      <p:ext uri="{BB962C8B-B14F-4D97-AF65-F5344CB8AC3E}">
        <p14:creationId xmlns:p14="http://schemas.microsoft.com/office/powerpoint/2010/main" val="2065237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6011E1-FAA8-4489-9756-776F17D29F94}"/>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891140B1-9506-4F5C-8906-F42ADD6682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52005078-7906-4F17-9C57-1EDBE37B2F7D}"/>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5" name="Marcador de texto 4">
            <a:extLst>
              <a:ext uri="{FF2B5EF4-FFF2-40B4-BE49-F238E27FC236}">
                <a16:creationId xmlns:a16="http://schemas.microsoft.com/office/drawing/2014/main" id="{B1A7329A-DA33-47A1-80EF-112250F886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1279F02E-C057-4506-B31C-73ACA1E4D8F0}"/>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7" name="Marcador de fecha 6">
            <a:extLst>
              <a:ext uri="{FF2B5EF4-FFF2-40B4-BE49-F238E27FC236}">
                <a16:creationId xmlns:a16="http://schemas.microsoft.com/office/drawing/2014/main" id="{B55A1F71-18FD-4783-AC8E-8A8989D57628}"/>
              </a:ext>
            </a:extLst>
          </p:cNvPr>
          <p:cNvSpPr>
            <a:spLocks noGrp="1"/>
          </p:cNvSpPr>
          <p:nvPr>
            <p:ph type="dt" sz="half" idx="10"/>
          </p:nvPr>
        </p:nvSpPr>
        <p:spPr/>
        <p:txBody>
          <a:bodyPr/>
          <a:lstStyle/>
          <a:p>
            <a:fld id="{7125D04E-764C-4596-95CA-9BEE38DAC7C3}" type="datetimeFigureOut">
              <a:rPr lang="es-NI" smtClean="0"/>
              <a:t>9/9/2026</a:t>
            </a:fld>
            <a:endParaRPr lang="es-NI"/>
          </a:p>
        </p:txBody>
      </p:sp>
      <p:sp>
        <p:nvSpPr>
          <p:cNvPr id="8" name="Marcador de pie de página 7">
            <a:extLst>
              <a:ext uri="{FF2B5EF4-FFF2-40B4-BE49-F238E27FC236}">
                <a16:creationId xmlns:a16="http://schemas.microsoft.com/office/drawing/2014/main" id="{C93DE9EC-CAF7-404D-88D3-A150D6A7D31A}"/>
              </a:ext>
            </a:extLst>
          </p:cNvPr>
          <p:cNvSpPr>
            <a:spLocks noGrp="1"/>
          </p:cNvSpPr>
          <p:nvPr>
            <p:ph type="ftr" sz="quarter" idx="11"/>
          </p:nvPr>
        </p:nvSpPr>
        <p:spPr/>
        <p:txBody>
          <a:bodyPr/>
          <a:lstStyle/>
          <a:p>
            <a:endParaRPr lang="es-NI"/>
          </a:p>
        </p:txBody>
      </p:sp>
      <p:sp>
        <p:nvSpPr>
          <p:cNvPr id="9" name="Marcador de número de diapositiva 8">
            <a:extLst>
              <a:ext uri="{FF2B5EF4-FFF2-40B4-BE49-F238E27FC236}">
                <a16:creationId xmlns:a16="http://schemas.microsoft.com/office/drawing/2014/main" id="{1F70CFCC-6489-44A1-9B37-89CE83788735}"/>
              </a:ext>
            </a:extLst>
          </p:cNvPr>
          <p:cNvSpPr>
            <a:spLocks noGrp="1"/>
          </p:cNvSpPr>
          <p:nvPr>
            <p:ph type="sldNum" sz="quarter" idx="12"/>
          </p:nvPr>
        </p:nvSpPr>
        <p:spPr/>
        <p:txBody>
          <a:bodyPr/>
          <a:lstStyle/>
          <a:p>
            <a:fld id="{F106D25C-6381-4F65-8463-01DA60EF91EF}" type="slidenum">
              <a:rPr lang="es-NI" smtClean="0"/>
              <a:t>‹Nº›</a:t>
            </a:fld>
            <a:endParaRPr lang="es-NI"/>
          </a:p>
        </p:txBody>
      </p:sp>
    </p:spTree>
    <p:extLst>
      <p:ext uri="{BB962C8B-B14F-4D97-AF65-F5344CB8AC3E}">
        <p14:creationId xmlns:p14="http://schemas.microsoft.com/office/powerpoint/2010/main" val="6423266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41E199-AFB3-4651-86DC-A7E7BC2FE81F}"/>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fecha 2">
            <a:extLst>
              <a:ext uri="{FF2B5EF4-FFF2-40B4-BE49-F238E27FC236}">
                <a16:creationId xmlns:a16="http://schemas.microsoft.com/office/drawing/2014/main" id="{9348873F-906E-4CA4-8E77-282D37460EC4}"/>
              </a:ext>
            </a:extLst>
          </p:cNvPr>
          <p:cNvSpPr>
            <a:spLocks noGrp="1"/>
          </p:cNvSpPr>
          <p:nvPr>
            <p:ph type="dt" sz="half" idx="10"/>
          </p:nvPr>
        </p:nvSpPr>
        <p:spPr/>
        <p:txBody>
          <a:bodyPr/>
          <a:lstStyle/>
          <a:p>
            <a:fld id="{7125D04E-764C-4596-95CA-9BEE38DAC7C3}" type="datetimeFigureOut">
              <a:rPr lang="es-NI" smtClean="0"/>
              <a:t>9/9/2026</a:t>
            </a:fld>
            <a:endParaRPr lang="es-NI"/>
          </a:p>
        </p:txBody>
      </p:sp>
      <p:sp>
        <p:nvSpPr>
          <p:cNvPr id="4" name="Marcador de pie de página 3">
            <a:extLst>
              <a:ext uri="{FF2B5EF4-FFF2-40B4-BE49-F238E27FC236}">
                <a16:creationId xmlns:a16="http://schemas.microsoft.com/office/drawing/2014/main" id="{62AC095B-3E3C-431A-B311-8082D1EDB85B}"/>
              </a:ext>
            </a:extLst>
          </p:cNvPr>
          <p:cNvSpPr>
            <a:spLocks noGrp="1"/>
          </p:cNvSpPr>
          <p:nvPr>
            <p:ph type="ftr" sz="quarter" idx="11"/>
          </p:nvPr>
        </p:nvSpPr>
        <p:spPr/>
        <p:txBody>
          <a:bodyPr/>
          <a:lstStyle/>
          <a:p>
            <a:endParaRPr lang="es-NI"/>
          </a:p>
        </p:txBody>
      </p:sp>
      <p:sp>
        <p:nvSpPr>
          <p:cNvPr id="5" name="Marcador de número de diapositiva 4">
            <a:extLst>
              <a:ext uri="{FF2B5EF4-FFF2-40B4-BE49-F238E27FC236}">
                <a16:creationId xmlns:a16="http://schemas.microsoft.com/office/drawing/2014/main" id="{1B22131F-DA92-4EFC-95C1-AD9B7FA2C0CE}"/>
              </a:ext>
            </a:extLst>
          </p:cNvPr>
          <p:cNvSpPr>
            <a:spLocks noGrp="1"/>
          </p:cNvSpPr>
          <p:nvPr>
            <p:ph type="sldNum" sz="quarter" idx="12"/>
          </p:nvPr>
        </p:nvSpPr>
        <p:spPr/>
        <p:txBody>
          <a:bodyPr/>
          <a:lstStyle/>
          <a:p>
            <a:fld id="{F106D25C-6381-4F65-8463-01DA60EF91EF}" type="slidenum">
              <a:rPr lang="es-NI" smtClean="0"/>
              <a:t>‹Nº›</a:t>
            </a:fld>
            <a:endParaRPr lang="es-NI"/>
          </a:p>
        </p:txBody>
      </p:sp>
    </p:spTree>
    <p:extLst>
      <p:ext uri="{BB962C8B-B14F-4D97-AF65-F5344CB8AC3E}">
        <p14:creationId xmlns:p14="http://schemas.microsoft.com/office/powerpoint/2010/main" val="3236433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CB2535E3-308D-4F04-A13B-469313BD6DF6}"/>
              </a:ext>
            </a:extLst>
          </p:cNvPr>
          <p:cNvSpPr>
            <a:spLocks noGrp="1"/>
          </p:cNvSpPr>
          <p:nvPr>
            <p:ph type="dt" sz="half" idx="10"/>
          </p:nvPr>
        </p:nvSpPr>
        <p:spPr/>
        <p:txBody>
          <a:bodyPr/>
          <a:lstStyle/>
          <a:p>
            <a:fld id="{7125D04E-764C-4596-95CA-9BEE38DAC7C3}" type="datetimeFigureOut">
              <a:rPr lang="es-NI" smtClean="0"/>
              <a:t>9/9/2026</a:t>
            </a:fld>
            <a:endParaRPr lang="es-NI"/>
          </a:p>
        </p:txBody>
      </p:sp>
      <p:sp>
        <p:nvSpPr>
          <p:cNvPr id="3" name="Marcador de pie de página 2">
            <a:extLst>
              <a:ext uri="{FF2B5EF4-FFF2-40B4-BE49-F238E27FC236}">
                <a16:creationId xmlns:a16="http://schemas.microsoft.com/office/drawing/2014/main" id="{E813DB85-C57F-43DA-A43B-C0742B0EBB4C}"/>
              </a:ext>
            </a:extLst>
          </p:cNvPr>
          <p:cNvSpPr>
            <a:spLocks noGrp="1"/>
          </p:cNvSpPr>
          <p:nvPr>
            <p:ph type="ftr" sz="quarter" idx="11"/>
          </p:nvPr>
        </p:nvSpPr>
        <p:spPr/>
        <p:txBody>
          <a:bodyPr/>
          <a:lstStyle/>
          <a:p>
            <a:endParaRPr lang="es-NI"/>
          </a:p>
        </p:txBody>
      </p:sp>
      <p:sp>
        <p:nvSpPr>
          <p:cNvPr id="4" name="Marcador de número de diapositiva 3">
            <a:extLst>
              <a:ext uri="{FF2B5EF4-FFF2-40B4-BE49-F238E27FC236}">
                <a16:creationId xmlns:a16="http://schemas.microsoft.com/office/drawing/2014/main" id="{483AB0E7-F3D7-40EC-B626-BFC49ECAE641}"/>
              </a:ext>
            </a:extLst>
          </p:cNvPr>
          <p:cNvSpPr>
            <a:spLocks noGrp="1"/>
          </p:cNvSpPr>
          <p:nvPr>
            <p:ph type="sldNum" sz="quarter" idx="12"/>
          </p:nvPr>
        </p:nvSpPr>
        <p:spPr/>
        <p:txBody>
          <a:bodyPr/>
          <a:lstStyle/>
          <a:p>
            <a:fld id="{F106D25C-6381-4F65-8463-01DA60EF91EF}" type="slidenum">
              <a:rPr lang="es-NI" smtClean="0"/>
              <a:t>‹Nº›</a:t>
            </a:fld>
            <a:endParaRPr lang="es-NI"/>
          </a:p>
        </p:txBody>
      </p:sp>
    </p:spTree>
    <p:extLst>
      <p:ext uri="{BB962C8B-B14F-4D97-AF65-F5344CB8AC3E}">
        <p14:creationId xmlns:p14="http://schemas.microsoft.com/office/powerpoint/2010/main" val="115734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1735FB-3064-4BB6-8EA4-533F1DA0BA5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CA85AD95-2157-4648-A906-83D93CAB717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texto 3">
            <a:extLst>
              <a:ext uri="{FF2B5EF4-FFF2-40B4-BE49-F238E27FC236}">
                <a16:creationId xmlns:a16="http://schemas.microsoft.com/office/drawing/2014/main" id="{CC958CB8-3271-4817-8927-4B9CAB91F4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18C542D-9A58-46CC-B225-DFE1488EF8F2}"/>
              </a:ext>
            </a:extLst>
          </p:cNvPr>
          <p:cNvSpPr>
            <a:spLocks noGrp="1"/>
          </p:cNvSpPr>
          <p:nvPr>
            <p:ph type="dt" sz="half" idx="10"/>
          </p:nvPr>
        </p:nvSpPr>
        <p:spPr/>
        <p:txBody>
          <a:bodyPr/>
          <a:lstStyle/>
          <a:p>
            <a:fld id="{7125D04E-764C-4596-95CA-9BEE38DAC7C3}" type="datetimeFigureOut">
              <a:rPr lang="es-NI" smtClean="0"/>
              <a:t>9/9/2026</a:t>
            </a:fld>
            <a:endParaRPr lang="es-NI"/>
          </a:p>
        </p:txBody>
      </p:sp>
      <p:sp>
        <p:nvSpPr>
          <p:cNvPr id="6" name="Marcador de pie de página 5">
            <a:extLst>
              <a:ext uri="{FF2B5EF4-FFF2-40B4-BE49-F238E27FC236}">
                <a16:creationId xmlns:a16="http://schemas.microsoft.com/office/drawing/2014/main" id="{1E9E1E9B-B3F6-45FD-B711-6C817B0C82B7}"/>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F5843884-9B8D-4AFC-B5DD-F84C7A10638C}"/>
              </a:ext>
            </a:extLst>
          </p:cNvPr>
          <p:cNvSpPr>
            <a:spLocks noGrp="1"/>
          </p:cNvSpPr>
          <p:nvPr>
            <p:ph type="sldNum" sz="quarter" idx="12"/>
          </p:nvPr>
        </p:nvSpPr>
        <p:spPr/>
        <p:txBody>
          <a:bodyPr/>
          <a:lstStyle/>
          <a:p>
            <a:fld id="{F106D25C-6381-4F65-8463-01DA60EF91EF}" type="slidenum">
              <a:rPr lang="es-NI" smtClean="0"/>
              <a:t>‹Nº›</a:t>
            </a:fld>
            <a:endParaRPr lang="es-NI"/>
          </a:p>
        </p:txBody>
      </p:sp>
    </p:spTree>
    <p:extLst>
      <p:ext uri="{BB962C8B-B14F-4D97-AF65-F5344CB8AC3E}">
        <p14:creationId xmlns:p14="http://schemas.microsoft.com/office/powerpoint/2010/main" val="42830900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23E24B-F0BE-496A-916F-13AB80A2679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NI"/>
          </a:p>
        </p:txBody>
      </p:sp>
      <p:sp>
        <p:nvSpPr>
          <p:cNvPr id="3" name="Marcador de posición de imagen 2">
            <a:extLst>
              <a:ext uri="{FF2B5EF4-FFF2-40B4-BE49-F238E27FC236}">
                <a16:creationId xmlns:a16="http://schemas.microsoft.com/office/drawing/2014/main" id="{D14AE061-1E4C-4FE3-84A7-29E7AFA0C5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NI"/>
          </a:p>
        </p:txBody>
      </p:sp>
      <p:sp>
        <p:nvSpPr>
          <p:cNvPr id="4" name="Marcador de texto 3">
            <a:extLst>
              <a:ext uri="{FF2B5EF4-FFF2-40B4-BE49-F238E27FC236}">
                <a16:creationId xmlns:a16="http://schemas.microsoft.com/office/drawing/2014/main" id="{6CB35A4C-88D1-4F2A-AFA0-3CE14F2957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7B064B3-B541-4821-BBA6-6224EA7CAC61}"/>
              </a:ext>
            </a:extLst>
          </p:cNvPr>
          <p:cNvSpPr>
            <a:spLocks noGrp="1"/>
          </p:cNvSpPr>
          <p:nvPr>
            <p:ph type="dt" sz="half" idx="10"/>
          </p:nvPr>
        </p:nvSpPr>
        <p:spPr/>
        <p:txBody>
          <a:bodyPr/>
          <a:lstStyle/>
          <a:p>
            <a:fld id="{7125D04E-764C-4596-95CA-9BEE38DAC7C3}" type="datetimeFigureOut">
              <a:rPr lang="es-NI" smtClean="0"/>
              <a:t>9/9/2026</a:t>
            </a:fld>
            <a:endParaRPr lang="es-NI"/>
          </a:p>
        </p:txBody>
      </p:sp>
      <p:sp>
        <p:nvSpPr>
          <p:cNvPr id="6" name="Marcador de pie de página 5">
            <a:extLst>
              <a:ext uri="{FF2B5EF4-FFF2-40B4-BE49-F238E27FC236}">
                <a16:creationId xmlns:a16="http://schemas.microsoft.com/office/drawing/2014/main" id="{60B0BFD0-431D-49D1-9765-FCB85C3323D7}"/>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DCA3BE82-3AA9-40C1-863E-81AC0588D97D}"/>
              </a:ext>
            </a:extLst>
          </p:cNvPr>
          <p:cNvSpPr>
            <a:spLocks noGrp="1"/>
          </p:cNvSpPr>
          <p:nvPr>
            <p:ph type="sldNum" sz="quarter" idx="12"/>
          </p:nvPr>
        </p:nvSpPr>
        <p:spPr/>
        <p:txBody>
          <a:bodyPr/>
          <a:lstStyle/>
          <a:p>
            <a:fld id="{F106D25C-6381-4F65-8463-01DA60EF91EF}" type="slidenum">
              <a:rPr lang="es-NI" smtClean="0"/>
              <a:t>‹Nº›</a:t>
            </a:fld>
            <a:endParaRPr lang="es-NI"/>
          </a:p>
        </p:txBody>
      </p:sp>
    </p:spTree>
    <p:extLst>
      <p:ext uri="{BB962C8B-B14F-4D97-AF65-F5344CB8AC3E}">
        <p14:creationId xmlns:p14="http://schemas.microsoft.com/office/powerpoint/2010/main" val="33266245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7982B7-A458-4770-B7D0-63274A69779F}"/>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texto vertical 2">
            <a:extLst>
              <a:ext uri="{FF2B5EF4-FFF2-40B4-BE49-F238E27FC236}">
                <a16:creationId xmlns:a16="http://schemas.microsoft.com/office/drawing/2014/main" id="{4FCDD1BF-ABAB-4707-AF41-BB7756D01AE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A5BB92AE-829B-48D3-88FA-B9DEBED0EE92}"/>
              </a:ext>
            </a:extLst>
          </p:cNvPr>
          <p:cNvSpPr>
            <a:spLocks noGrp="1"/>
          </p:cNvSpPr>
          <p:nvPr>
            <p:ph type="dt" sz="half" idx="10"/>
          </p:nvPr>
        </p:nvSpPr>
        <p:spPr/>
        <p:txBody>
          <a:bodyPr/>
          <a:lstStyle/>
          <a:p>
            <a:fld id="{7125D04E-764C-4596-95CA-9BEE38DAC7C3}" type="datetimeFigureOut">
              <a:rPr lang="es-NI" smtClean="0"/>
              <a:t>9/9/2026</a:t>
            </a:fld>
            <a:endParaRPr lang="es-NI"/>
          </a:p>
        </p:txBody>
      </p:sp>
      <p:sp>
        <p:nvSpPr>
          <p:cNvPr id="5" name="Marcador de pie de página 4">
            <a:extLst>
              <a:ext uri="{FF2B5EF4-FFF2-40B4-BE49-F238E27FC236}">
                <a16:creationId xmlns:a16="http://schemas.microsoft.com/office/drawing/2014/main" id="{A9F74CA9-6BDF-48C4-BAD0-230A393E8D3C}"/>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CAAE1335-BBB1-40D9-8EC1-1F9B8E5992EA}"/>
              </a:ext>
            </a:extLst>
          </p:cNvPr>
          <p:cNvSpPr>
            <a:spLocks noGrp="1"/>
          </p:cNvSpPr>
          <p:nvPr>
            <p:ph type="sldNum" sz="quarter" idx="12"/>
          </p:nvPr>
        </p:nvSpPr>
        <p:spPr/>
        <p:txBody>
          <a:bodyPr/>
          <a:lstStyle/>
          <a:p>
            <a:fld id="{F106D25C-6381-4F65-8463-01DA60EF91EF}" type="slidenum">
              <a:rPr lang="es-NI" smtClean="0"/>
              <a:t>‹Nº›</a:t>
            </a:fld>
            <a:endParaRPr lang="es-NI"/>
          </a:p>
        </p:txBody>
      </p:sp>
    </p:spTree>
    <p:extLst>
      <p:ext uri="{BB962C8B-B14F-4D97-AF65-F5344CB8AC3E}">
        <p14:creationId xmlns:p14="http://schemas.microsoft.com/office/powerpoint/2010/main" val="23690129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1780417-9E77-44A2-B07B-9E7C8836C3D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NI"/>
          </a:p>
        </p:txBody>
      </p:sp>
      <p:sp>
        <p:nvSpPr>
          <p:cNvPr id="3" name="Marcador de texto vertical 2">
            <a:extLst>
              <a:ext uri="{FF2B5EF4-FFF2-40B4-BE49-F238E27FC236}">
                <a16:creationId xmlns:a16="http://schemas.microsoft.com/office/drawing/2014/main" id="{88C63707-7E38-4424-8912-B48C361FA6D8}"/>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39C30C91-5504-47D0-A7D8-CFDFA3C98DA2}"/>
              </a:ext>
            </a:extLst>
          </p:cNvPr>
          <p:cNvSpPr>
            <a:spLocks noGrp="1"/>
          </p:cNvSpPr>
          <p:nvPr>
            <p:ph type="dt" sz="half" idx="10"/>
          </p:nvPr>
        </p:nvSpPr>
        <p:spPr/>
        <p:txBody>
          <a:bodyPr/>
          <a:lstStyle/>
          <a:p>
            <a:fld id="{7125D04E-764C-4596-95CA-9BEE38DAC7C3}" type="datetimeFigureOut">
              <a:rPr lang="es-NI" smtClean="0"/>
              <a:t>9/9/2026</a:t>
            </a:fld>
            <a:endParaRPr lang="es-NI"/>
          </a:p>
        </p:txBody>
      </p:sp>
      <p:sp>
        <p:nvSpPr>
          <p:cNvPr id="5" name="Marcador de pie de página 4">
            <a:extLst>
              <a:ext uri="{FF2B5EF4-FFF2-40B4-BE49-F238E27FC236}">
                <a16:creationId xmlns:a16="http://schemas.microsoft.com/office/drawing/2014/main" id="{52BF7F86-1FE5-4154-9B28-2FE8931BDE55}"/>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877B7AFE-17C5-49D1-BA0B-8FF56A8F7DBE}"/>
              </a:ext>
            </a:extLst>
          </p:cNvPr>
          <p:cNvSpPr>
            <a:spLocks noGrp="1"/>
          </p:cNvSpPr>
          <p:nvPr>
            <p:ph type="sldNum" sz="quarter" idx="12"/>
          </p:nvPr>
        </p:nvSpPr>
        <p:spPr/>
        <p:txBody>
          <a:bodyPr/>
          <a:lstStyle/>
          <a:p>
            <a:fld id="{F106D25C-6381-4F65-8463-01DA60EF91EF}" type="slidenum">
              <a:rPr lang="es-NI" smtClean="0"/>
              <a:t>‹Nº›</a:t>
            </a:fld>
            <a:endParaRPr lang="es-NI"/>
          </a:p>
        </p:txBody>
      </p:sp>
    </p:spTree>
    <p:extLst>
      <p:ext uri="{BB962C8B-B14F-4D97-AF65-F5344CB8AC3E}">
        <p14:creationId xmlns:p14="http://schemas.microsoft.com/office/powerpoint/2010/main" val="630793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2499C2AF-F3CE-44C3-A0C3-7D71CC8C807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705E01E2-8DF9-42DF-8BB4-748F3AF599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D4E12214-499E-44AC-8424-3783F6BBB1E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25D04E-764C-4596-95CA-9BEE38DAC7C3}" type="datetimeFigureOut">
              <a:rPr lang="es-NI" smtClean="0"/>
              <a:t>9/9/2026</a:t>
            </a:fld>
            <a:endParaRPr lang="es-NI"/>
          </a:p>
        </p:txBody>
      </p:sp>
      <p:sp>
        <p:nvSpPr>
          <p:cNvPr id="5" name="Marcador de pie de página 4">
            <a:extLst>
              <a:ext uri="{FF2B5EF4-FFF2-40B4-BE49-F238E27FC236}">
                <a16:creationId xmlns:a16="http://schemas.microsoft.com/office/drawing/2014/main" id="{BC455309-4B4B-44AF-8426-328D840650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NI"/>
          </a:p>
        </p:txBody>
      </p:sp>
      <p:sp>
        <p:nvSpPr>
          <p:cNvPr id="6" name="Marcador de número de diapositiva 5">
            <a:extLst>
              <a:ext uri="{FF2B5EF4-FFF2-40B4-BE49-F238E27FC236}">
                <a16:creationId xmlns:a16="http://schemas.microsoft.com/office/drawing/2014/main" id="{168FDB0E-D6EE-4797-98C7-7B407C09D3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06D25C-6381-4F65-8463-01DA60EF91EF}" type="slidenum">
              <a:rPr lang="es-NI" smtClean="0"/>
              <a:t>‹Nº›</a:t>
            </a:fld>
            <a:endParaRPr lang="es-NI"/>
          </a:p>
        </p:txBody>
      </p:sp>
    </p:spTree>
    <p:extLst>
      <p:ext uri="{BB962C8B-B14F-4D97-AF65-F5344CB8AC3E}">
        <p14:creationId xmlns:p14="http://schemas.microsoft.com/office/powerpoint/2010/main" val="35566629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8F6A2BC2-C057-42EA-B50D-90FB2596A3E8}"/>
              </a:ext>
            </a:extLst>
          </p:cNvPr>
          <p:cNvPicPr>
            <a:picLocks noChangeAspect="1"/>
          </p:cNvPicPr>
          <p:nvPr/>
        </p:nvPicPr>
        <p:blipFill>
          <a:blip r:embed="rId2"/>
          <a:stretch>
            <a:fillRect/>
          </a:stretch>
        </p:blipFill>
        <p:spPr>
          <a:xfrm>
            <a:off x="4778188" y="1385048"/>
            <a:ext cx="2631142" cy="2631142"/>
          </a:xfrm>
          <a:prstGeom prst="rect">
            <a:avLst/>
          </a:prstGeom>
        </p:spPr>
      </p:pic>
      <p:sp>
        <p:nvSpPr>
          <p:cNvPr id="5" name="CuadroTexto 4">
            <a:extLst>
              <a:ext uri="{FF2B5EF4-FFF2-40B4-BE49-F238E27FC236}">
                <a16:creationId xmlns:a16="http://schemas.microsoft.com/office/drawing/2014/main" id="{5DA881A2-B917-40A2-A6E4-64896C28AC63}"/>
              </a:ext>
            </a:extLst>
          </p:cNvPr>
          <p:cNvSpPr txBox="1"/>
          <p:nvPr/>
        </p:nvSpPr>
        <p:spPr>
          <a:xfrm>
            <a:off x="3062568" y="564341"/>
            <a:ext cx="6098240" cy="646331"/>
          </a:xfrm>
          <a:prstGeom prst="rect">
            <a:avLst/>
          </a:prstGeom>
          <a:noFill/>
        </p:spPr>
        <p:txBody>
          <a:bodyPr wrap="square">
            <a:spAutoFit/>
          </a:bodyPr>
          <a:lstStyle/>
          <a:p>
            <a:pPr algn="ctr" rtl="0" fontAlgn="base"/>
            <a:r>
              <a:rPr lang="es-MX" sz="1800" b="1" i="0" dirty="0">
                <a:solidFill>
                  <a:srgbClr val="000000"/>
                </a:solidFill>
                <a:effectLst/>
                <a:latin typeface="Times New Roman" panose="02020603050405020304" pitchFamily="18" charset="0"/>
              </a:rPr>
              <a:t>Universidad Americana UAM </a:t>
            </a:r>
            <a:r>
              <a:rPr lang="es-MX" sz="1800" b="0" i="0" dirty="0">
                <a:solidFill>
                  <a:srgbClr val="000000"/>
                </a:solidFill>
                <a:effectLst/>
                <a:latin typeface="Times New Roman" panose="02020603050405020304" pitchFamily="18" charset="0"/>
              </a:rPr>
              <a:t> </a:t>
            </a:r>
            <a:endParaRPr lang="es-MX" b="0" i="0" dirty="0">
              <a:solidFill>
                <a:srgbClr val="000000"/>
              </a:solidFill>
              <a:effectLst/>
              <a:latin typeface="Segoe UI" panose="020B0502040204020203" pitchFamily="34" charset="0"/>
            </a:endParaRPr>
          </a:p>
          <a:p>
            <a:pPr algn="ctr" rtl="0" fontAlgn="base"/>
            <a:r>
              <a:rPr lang="es-MX" sz="1800" b="1" i="0" dirty="0">
                <a:solidFill>
                  <a:srgbClr val="000000"/>
                </a:solidFill>
                <a:effectLst/>
                <a:latin typeface="Times New Roman" panose="02020603050405020304" pitchFamily="18" charset="0"/>
              </a:rPr>
              <a:t>Facultad de Ciencias Administrativas y Económicas</a:t>
            </a:r>
            <a:endParaRPr lang="es-MX" b="0" i="0" dirty="0">
              <a:solidFill>
                <a:srgbClr val="000000"/>
              </a:solidFill>
              <a:effectLst/>
              <a:latin typeface="Segoe UI" panose="020B0502040204020203" pitchFamily="34" charset="0"/>
            </a:endParaRPr>
          </a:p>
        </p:txBody>
      </p:sp>
      <p:sp>
        <p:nvSpPr>
          <p:cNvPr id="7" name="CuadroTexto 6">
            <a:extLst>
              <a:ext uri="{FF2B5EF4-FFF2-40B4-BE49-F238E27FC236}">
                <a16:creationId xmlns:a16="http://schemas.microsoft.com/office/drawing/2014/main" id="{7AB7FDC7-16B8-4C81-8741-083B695BFCDA}"/>
              </a:ext>
            </a:extLst>
          </p:cNvPr>
          <p:cNvSpPr txBox="1"/>
          <p:nvPr/>
        </p:nvSpPr>
        <p:spPr>
          <a:xfrm>
            <a:off x="2968440" y="4195483"/>
            <a:ext cx="6404162" cy="2462213"/>
          </a:xfrm>
          <a:prstGeom prst="rect">
            <a:avLst/>
          </a:prstGeom>
          <a:noFill/>
        </p:spPr>
        <p:txBody>
          <a:bodyPr wrap="square">
            <a:spAutoFit/>
          </a:bodyPr>
          <a:lstStyle/>
          <a:p>
            <a:pPr algn="ctr" rtl="0" fontAlgn="base"/>
            <a:r>
              <a:rPr lang="es-MX" sz="1400" b="1" i="0" dirty="0">
                <a:solidFill>
                  <a:srgbClr val="000000"/>
                </a:solidFill>
                <a:effectLst/>
                <a:latin typeface="Times New Roman" panose="02020603050405020304" pitchFamily="18" charset="0"/>
              </a:rPr>
              <a:t>Gestión y Análisis de operaciones de Comercio Internacional de la empresa </a:t>
            </a:r>
            <a:r>
              <a:rPr lang="es-MX" sz="1400" b="1" i="0" dirty="0" err="1">
                <a:solidFill>
                  <a:srgbClr val="000000"/>
                </a:solidFill>
                <a:effectLst/>
                <a:latin typeface="Times New Roman" panose="02020603050405020304" pitchFamily="18" charset="0"/>
              </a:rPr>
              <a:t>NicaExport</a:t>
            </a:r>
            <a:r>
              <a:rPr lang="es-MX" sz="1400" b="1" i="0" dirty="0">
                <a:solidFill>
                  <a:srgbClr val="000000"/>
                </a:solidFill>
                <a:effectLst/>
                <a:latin typeface="Times New Roman" panose="02020603050405020304" pitchFamily="18" charset="0"/>
              </a:rPr>
              <a:t> Trading, S.A</a:t>
            </a:r>
          </a:p>
          <a:p>
            <a:pPr algn="ctr" rtl="0" fontAlgn="base"/>
            <a:endParaRPr lang="es-MX" sz="1400" b="1" i="0" dirty="0">
              <a:solidFill>
                <a:srgbClr val="000000"/>
              </a:solidFill>
              <a:effectLst/>
              <a:latin typeface="Times New Roman" panose="02020603050405020304" pitchFamily="18" charset="0"/>
            </a:endParaRPr>
          </a:p>
          <a:p>
            <a:pPr algn="ctr" rtl="0" fontAlgn="base"/>
            <a:r>
              <a:rPr lang="es-MX" sz="1400" b="1" i="0" dirty="0">
                <a:solidFill>
                  <a:srgbClr val="000000"/>
                </a:solidFill>
                <a:effectLst/>
                <a:latin typeface="Times New Roman" panose="02020603050405020304" pitchFamily="18" charset="0"/>
              </a:rPr>
              <a:t>Nombres de estudiantes:</a:t>
            </a:r>
            <a:r>
              <a:rPr lang="es-MX" sz="1400" b="0" i="0" dirty="0">
                <a:solidFill>
                  <a:srgbClr val="000000"/>
                </a:solidFill>
                <a:effectLst/>
                <a:latin typeface="WordVisiCarriageReturn_MSFontService"/>
              </a:rPr>
              <a:t> </a:t>
            </a:r>
            <a:br>
              <a:rPr lang="es-MX" sz="1400" b="0" i="0" dirty="0">
                <a:solidFill>
                  <a:srgbClr val="000000"/>
                </a:solidFill>
                <a:effectLst/>
                <a:latin typeface="WordVisiCarriageReturn_MSFontService"/>
              </a:rPr>
            </a:br>
            <a:r>
              <a:rPr lang="es-MX" sz="1400" b="0" i="0" dirty="0">
                <a:solidFill>
                  <a:srgbClr val="000000"/>
                </a:solidFill>
                <a:effectLst/>
                <a:latin typeface="Times New Roman" panose="02020603050405020304" pitchFamily="18" charset="0"/>
              </a:rPr>
              <a:t>Loyda Regina Torres Pineda </a:t>
            </a:r>
          </a:p>
          <a:p>
            <a:pPr algn="ctr" rtl="0" fontAlgn="base"/>
            <a:r>
              <a:rPr lang="es-MX" sz="1400" dirty="0">
                <a:solidFill>
                  <a:srgbClr val="000000"/>
                </a:solidFill>
                <a:latin typeface="Times New Roman" panose="02020603050405020304" pitchFamily="18" charset="0"/>
              </a:rPr>
              <a:t>Cherlin Tatiana Andrades Pineda</a:t>
            </a:r>
            <a:endParaRPr lang="es-MX" sz="1400" b="0" i="0" dirty="0">
              <a:solidFill>
                <a:srgbClr val="000000"/>
              </a:solidFill>
              <a:effectLst/>
              <a:latin typeface="Segoe UI" panose="020B0502040204020203" pitchFamily="34" charset="0"/>
            </a:endParaRPr>
          </a:p>
          <a:p>
            <a:pPr algn="ctr" rtl="0" fontAlgn="base"/>
            <a:r>
              <a:rPr lang="es-MX" sz="1400" b="1" i="0" dirty="0">
                <a:solidFill>
                  <a:srgbClr val="000000"/>
                </a:solidFill>
                <a:effectLst/>
                <a:latin typeface="Times New Roman" panose="02020603050405020304" pitchFamily="18" charset="0"/>
              </a:rPr>
              <a:t>Profesor:</a:t>
            </a:r>
            <a:r>
              <a:rPr lang="es-MX" sz="1400" b="0" i="0" dirty="0">
                <a:solidFill>
                  <a:srgbClr val="000000"/>
                </a:solidFill>
                <a:effectLst/>
                <a:latin typeface="WordVisiCarriageReturn_MSFontService"/>
              </a:rPr>
              <a:t> </a:t>
            </a:r>
            <a:br>
              <a:rPr lang="es-MX" sz="1400" b="0" i="0" dirty="0">
                <a:solidFill>
                  <a:srgbClr val="000000"/>
                </a:solidFill>
                <a:effectLst/>
                <a:latin typeface="WordVisiCarriageReturn_MSFontService"/>
              </a:rPr>
            </a:br>
            <a:r>
              <a:rPr lang="es-MX" sz="1400" b="0" i="0" dirty="0">
                <a:solidFill>
                  <a:srgbClr val="000000"/>
                </a:solidFill>
                <a:effectLst/>
                <a:latin typeface="Times New Roman" panose="02020603050405020304" pitchFamily="18" charset="0"/>
              </a:rPr>
              <a:t>Cesar David Marín López </a:t>
            </a:r>
            <a:endParaRPr lang="es-MX" sz="1400" b="0" i="0" dirty="0">
              <a:solidFill>
                <a:srgbClr val="000000"/>
              </a:solidFill>
              <a:effectLst/>
              <a:latin typeface="Segoe UI" panose="020B0502040204020203" pitchFamily="34" charset="0"/>
            </a:endParaRPr>
          </a:p>
          <a:p>
            <a:pPr algn="ctr" rtl="0" fontAlgn="base"/>
            <a:r>
              <a:rPr lang="es-MX" sz="1400" b="1" i="0" dirty="0">
                <a:solidFill>
                  <a:srgbClr val="000000"/>
                </a:solidFill>
                <a:effectLst/>
                <a:latin typeface="Times New Roman" panose="02020603050405020304" pitchFamily="18" charset="0"/>
              </a:rPr>
              <a:t>Grupo 7</a:t>
            </a:r>
            <a:r>
              <a:rPr lang="es-MX" sz="1400" b="0" i="0" dirty="0">
                <a:solidFill>
                  <a:srgbClr val="000000"/>
                </a:solidFill>
                <a:effectLst/>
                <a:latin typeface="Times New Roman" panose="02020603050405020304" pitchFamily="18" charset="0"/>
              </a:rPr>
              <a:t> </a:t>
            </a:r>
            <a:endParaRPr lang="es-MX" sz="1400" b="0" i="0" dirty="0">
              <a:solidFill>
                <a:srgbClr val="000000"/>
              </a:solidFill>
              <a:effectLst/>
              <a:latin typeface="Segoe UI" panose="020B0502040204020203" pitchFamily="34" charset="0"/>
            </a:endParaRPr>
          </a:p>
          <a:p>
            <a:pPr algn="ctr" rtl="0" fontAlgn="base"/>
            <a:r>
              <a:rPr lang="es-MX" sz="1400" b="1" i="0" dirty="0">
                <a:solidFill>
                  <a:srgbClr val="000000"/>
                </a:solidFill>
                <a:effectLst/>
                <a:latin typeface="Times New Roman" panose="02020603050405020304" pitchFamily="18" charset="0"/>
              </a:rPr>
              <a:t>Fecha:</a:t>
            </a:r>
            <a:r>
              <a:rPr lang="es-MX" sz="1400" b="0" i="0" dirty="0">
                <a:solidFill>
                  <a:srgbClr val="000000"/>
                </a:solidFill>
                <a:effectLst/>
                <a:latin typeface="WordVisiCarriageReturn_MSFontService"/>
              </a:rPr>
              <a:t> </a:t>
            </a:r>
            <a:br>
              <a:rPr lang="es-MX" sz="1400" b="0" i="0" dirty="0">
                <a:solidFill>
                  <a:srgbClr val="000000"/>
                </a:solidFill>
                <a:effectLst/>
                <a:latin typeface="WordVisiCarriageReturn_MSFontService"/>
              </a:rPr>
            </a:br>
            <a:r>
              <a:rPr lang="es-MX" sz="1400" b="0" i="0" dirty="0">
                <a:solidFill>
                  <a:srgbClr val="000000"/>
                </a:solidFill>
                <a:effectLst/>
                <a:latin typeface="Times New Roman" panose="02020603050405020304" pitchFamily="18" charset="0"/>
              </a:rPr>
              <a:t>09/09/2026 </a:t>
            </a:r>
            <a:endParaRPr lang="es-MX" sz="1400" b="0" i="0" dirty="0">
              <a:solidFill>
                <a:srgbClr val="000000"/>
              </a:solidFill>
              <a:effectLst/>
              <a:latin typeface="Segoe UI" panose="020B0502040204020203" pitchFamily="34" charset="0"/>
            </a:endParaRPr>
          </a:p>
        </p:txBody>
      </p:sp>
    </p:spTree>
    <p:extLst>
      <p:ext uri="{BB962C8B-B14F-4D97-AF65-F5344CB8AC3E}">
        <p14:creationId xmlns:p14="http://schemas.microsoft.com/office/powerpoint/2010/main" val="921139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BC48F82C-38DB-4DFC-B2D1-4644383312AA}"/>
              </a:ext>
            </a:extLst>
          </p:cNvPr>
          <p:cNvSpPr txBox="1"/>
          <p:nvPr/>
        </p:nvSpPr>
        <p:spPr>
          <a:xfrm>
            <a:off x="4338138" y="566140"/>
            <a:ext cx="3246783" cy="523220"/>
          </a:xfrm>
          <a:prstGeom prst="rect">
            <a:avLst/>
          </a:prstGeom>
          <a:noFill/>
        </p:spPr>
        <p:txBody>
          <a:bodyPr wrap="square" rtlCol="0">
            <a:spAutoFit/>
          </a:bodyPr>
          <a:lstStyle/>
          <a:p>
            <a:pPr algn="ctr"/>
            <a:r>
              <a:rPr lang="es-ES" sz="2800" b="1" dirty="0"/>
              <a:t>Situación y objetivo</a:t>
            </a:r>
            <a:endParaRPr lang="es-NI" sz="2800" b="1" dirty="0"/>
          </a:p>
        </p:txBody>
      </p:sp>
      <p:sp>
        <p:nvSpPr>
          <p:cNvPr id="5" name="CuadroTexto 4">
            <a:extLst>
              <a:ext uri="{FF2B5EF4-FFF2-40B4-BE49-F238E27FC236}">
                <a16:creationId xmlns:a16="http://schemas.microsoft.com/office/drawing/2014/main" id="{2F2E99D8-121C-496D-9C74-0A10240CD002}"/>
              </a:ext>
            </a:extLst>
          </p:cNvPr>
          <p:cNvSpPr txBox="1"/>
          <p:nvPr/>
        </p:nvSpPr>
        <p:spPr>
          <a:xfrm>
            <a:off x="964827" y="1254275"/>
            <a:ext cx="10290362" cy="5078313"/>
          </a:xfrm>
          <a:prstGeom prst="rect">
            <a:avLst/>
          </a:prstGeom>
          <a:noFill/>
        </p:spPr>
        <p:txBody>
          <a:bodyPr wrap="square">
            <a:spAutoFit/>
          </a:bodyPr>
          <a:lstStyle/>
          <a:p>
            <a:r>
              <a:rPr lang="es-MX" dirty="0">
                <a:latin typeface="Arial" panose="020B0604020202020204" pitchFamily="34" charset="0"/>
                <a:cs typeface="Arial" panose="020B0604020202020204" pitchFamily="34" charset="0"/>
              </a:rPr>
              <a:t>NicaExport Trading, S.A. es una empresa nicaragüense dedicada a la exportación de productos agroindustriales hacia diferentes mercados internacionales. Durante el primer semestre de 2026, la empresa realizó operaciones de exportación hacia Estados Unidos, México, Costa Rica, Guatemala, El Salvador y España. La gerencia desea analizar las operaciones realizadas para determinar:</a:t>
            </a:r>
          </a:p>
          <a:p>
            <a:r>
              <a:rPr lang="es-MX" dirty="0">
                <a:latin typeface="Arial" panose="020B0604020202020204" pitchFamily="34" charset="0"/>
                <a:cs typeface="Arial" panose="020B0604020202020204" pitchFamily="34" charset="0"/>
              </a:rPr>
              <a:t>• Cuáles son los mercados más importantes. </a:t>
            </a:r>
          </a:p>
          <a:p>
            <a:r>
              <a:rPr lang="es-MX" dirty="0">
                <a:latin typeface="Arial" panose="020B0604020202020204" pitchFamily="34" charset="0"/>
                <a:cs typeface="Arial" panose="020B0604020202020204" pitchFamily="34" charset="0"/>
              </a:rPr>
              <a:t>• Qué productos tienen mayor demanda internacional. </a:t>
            </a:r>
          </a:p>
          <a:p>
            <a:r>
              <a:rPr lang="es-MX" dirty="0">
                <a:latin typeface="Arial" panose="020B0604020202020204" pitchFamily="34" charset="0"/>
                <a:cs typeface="Arial" panose="020B0604020202020204" pitchFamily="34" charset="0"/>
              </a:rPr>
              <a:t>• Qué operaciones generan mayores ingresos. </a:t>
            </a:r>
          </a:p>
          <a:p>
            <a:r>
              <a:rPr lang="es-MX" dirty="0">
                <a:latin typeface="Arial" panose="020B0604020202020204" pitchFamily="34" charset="0"/>
                <a:cs typeface="Arial" panose="020B0604020202020204" pitchFamily="34" charset="0"/>
              </a:rPr>
              <a:t>• Cuáles presentan mayor margen de utilidad. </a:t>
            </a:r>
          </a:p>
          <a:p>
            <a:r>
              <a:rPr lang="es-MX" dirty="0">
                <a:latin typeface="Arial" panose="020B0604020202020204" pitchFamily="34" charset="0"/>
                <a:cs typeface="Arial" panose="020B0604020202020204" pitchFamily="34" charset="0"/>
              </a:rPr>
              <a:t>• Qué clientes realizan mayores compras. </a:t>
            </a:r>
          </a:p>
          <a:p>
            <a:r>
              <a:rPr lang="es-MX" dirty="0">
                <a:latin typeface="Arial" panose="020B0604020202020204" pitchFamily="34" charset="0"/>
                <a:cs typeface="Arial" panose="020B0604020202020204" pitchFamily="34" charset="0"/>
              </a:rPr>
              <a:t>• Qué operaciones requieren atención. </a:t>
            </a:r>
          </a:p>
          <a:p>
            <a:r>
              <a:rPr lang="es-MX" dirty="0">
                <a:latin typeface="Arial" panose="020B0604020202020204" pitchFamily="34" charset="0"/>
                <a:cs typeface="Arial" panose="020B0604020202020204" pitchFamily="34" charset="0"/>
              </a:rPr>
              <a:t>• Y qué mercados deberían recibir prioridad comercial. </a:t>
            </a:r>
          </a:p>
          <a:p>
            <a:r>
              <a:rPr lang="es-MX" dirty="0">
                <a:latin typeface="Arial" panose="020B0604020202020204" pitchFamily="34" charset="0"/>
                <a:cs typeface="Arial" panose="020B0604020202020204" pitchFamily="34" charset="0"/>
              </a:rPr>
              <a:t>La empresa posee información sobre sus operaciones, pero actualmente los datos se encuentran registrados de forma independiente y la gerencia necesita convertirlos en información útil para la toma de decisiones. Por ello, el equipo de estudiantes ha sido contratado como equipo junior de análisis de negocios internacionales. Su misión será utilizar Microsoft Excel para analizar las operaciones, PowerPoint para presentar los resultados a la gerencia y GitHub para organizar y documentar colaborativamente el proyecto.</a:t>
            </a:r>
            <a:endParaRPr lang="es-NI"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65633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BC48F82C-38DB-4DFC-B2D1-4644383312AA}"/>
              </a:ext>
            </a:extLst>
          </p:cNvPr>
          <p:cNvSpPr txBox="1"/>
          <p:nvPr/>
        </p:nvSpPr>
        <p:spPr>
          <a:xfrm>
            <a:off x="3746467" y="619928"/>
            <a:ext cx="4267980" cy="523220"/>
          </a:xfrm>
          <a:prstGeom prst="rect">
            <a:avLst/>
          </a:prstGeom>
          <a:noFill/>
        </p:spPr>
        <p:txBody>
          <a:bodyPr wrap="square" rtlCol="0">
            <a:spAutoFit/>
          </a:bodyPr>
          <a:lstStyle/>
          <a:p>
            <a:pPr algn="ctr"/>
            <a:r>
              <a:rPr lang="es-ES" sz="2800" b="1" dirty="0"/>
              <a:t>Resumen de operaciones</a:t>
            </a:r>
            <a:endParaRPr lang="es-NI" sz="2800" b="1" dirty="0"/>
          </a:p>
        </p:txBody>
      </p:sp>
      <p:sp>
        <p:nvSpPr>
          <p:cNvPr id="2" name="Rectangle 1">
            <a:extLst>
              <a:ext uri="{FF2B5EF4-FFF2-40B4-BE49-F238E27FC236}">
                <a16:creationId xmlns:a16="http://schemas.microsoft.com/office/drawing/2014/main" id="{F2A440D3-932C-4705-BE86-CB748F4F15B7}"/>
              </a:ext>
            </a:extLst>
          </p:cNvPr>
          <p:cNvSpPr>
            <a:spLocks noChangeArrowheads="1"/>
          </p:cNvSpPr>
          <p:nvPr/>
        </p:nvSpPr>
        <p:spPr bwMode="auto">
          <a:xfrm>
            <a:off x="1183342" y="1515135"/>
            <a:ext cx="6723529"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NI" altLang="es-NI" sz="1800" b="1" i="0" u="none" strike="noStrike" cap="none" normalizeH="0" baseline="0" dirty="0">
                <a:ln>
                  <a:noFill/>
                </a:ln>
                <a:solidFill>
                  <a:schemeClr val="tx1"/>
                </a:solidFill>
                <a:effectLst/>
                <a:latin typeface="Arial" panose="020B0604020202020204" pitchFamily="34" charset="0"/>
              </a:rPr>
              <a:t>Valor Total Exportado (FOB):</a:t>
            </a:r>
            <a:r>
              <a:rPr kumimoji="0" lang="es-NI" altLang="es-NI" sz="1800" b="0" i="0" u="none" strike="noStrike" cap="none" normalizeH="0" baseline="0" dirty="0">
                <a:ln>
                  <a:noFill/>
                </a:ln>
                <a:solidFill>
                  <a:schemeClr val="tx1"/>
                </a:solidFill>
                <a:effectLst/>
                <a:latin typeface="Arial" panose="020B0604020202020204" pitchFamily="34" charset="0"/>
              </a:rPr>
              <a:t> $658,265.00 USD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NI" altLang="es-NI"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NI" altLang="es-NI" sz="1800" b="1" i="0" u="none" strike="noStrike" cap="none" normalizeH="0" baseline="0" dirty="0">
                <a:ln>
                  <a:noFill/>
                </a:ln>
                <a:solidFill>
                  <a:schemeClr val="tx1"/>
                </a:solidFill>
                <a:effectLst/>
                <a:latin typeface="Arial" panose="020B0604020202020204" pitchFamily="34" charset="0"/>
              </a:rPr>
              <a:t>Utilidad Bruta Total:</a:t>
            </a:r>
            <a:r>
              <a:rPr kumimoji="0" lang="es-NI" altLang="es-NI" sz="1800" b="0" i="0" u="none" strike="noStrike" cap="none" normalizeH="0" baseline="0" dirty="0">
                <a:ln>
                  <a:noFill/>
                </a:ln>
                <a:solidFill>
                  <a:schemeClr val="tx1"/>
                </a:solidFill>
                <a:effectLst/>
                <a:latin typeface="Arial" panose="020B0604020202020204" pitchFamily="34" charset="0"/>
              </a:rPr>
              <a:t> $214,072.00 USD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NI" altLang="es-NI"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NI" altLang="es-NI" sz="1800" b="1" i="0" u="none" strike="noStrike" cap="none" normalizeH="0" baseline="0" dirty="0">
                <a:ln>
                  <a:noFill/>
                </a:ln>
                <a:solidFill>
                  <a:schemeClr val="tx1"/>
                </a:solidFill>
                <a:effectLst/>
                <a:latin typeface="Arial" panose="020B0604020202020204" pitchFamily="34" charset="0"/>
              </a:rPr>
              <a:t>Margen Promedio Global:</a:t>
            </a:r>
            <a:r>
              <a:rPr kumimoji="0" lang="es-NI" altLang="es-NI" sz="1800" b="0" i="0" u="none" strike="noStrike" cap="none" normalizeH="0" baseline="0" dirty="0">
                <a:ln>
                  <a:noFill/>
                </a:ln>
                <a:solidFill>
                  <a:schemeClr val="tx1"/>
                </a:solidFill>
                <a:effectLst/>
                <a:latin typeface="Arial" panose="020B0604020202020204" pitchFamily="34" charset="0"/>
              </a:rPr>
              <a:t> 32.54%</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NI" altLang="es-NI"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NI" altLang="es-NI" sz="1800" b="1" i="0" u="none" strike="noStrike" cap="none" normalizeH="0" baseline="0" dirty="0">
                <a:ln>
                  <a:noFill/>
                </a:ln>
                <a:solidFill>
                  <a:schemeClr val="tx1"/>
                </a:solidFill>
                <a:effectLst/>
                <a:latin typeface="Arial" panose="020B0604020202020204" pitchFamily="34" charset="0"/>
              </a:rPr>
              <a:t>Volumen Total Exportado:</a:t>
            </a:r>
            <a:r>
              <a:rPr kumimoji="0" lang="es-NI" altLang="es-NI" sz="1800" b="0" i="0" u="none" strike="noStrike" cap="none" normalizeH="0" baseline="0" dirty="0">
                <a:ln>
                  <a:noFill/>
                </a:ln>
                <a:solidFill>
                  <a:schemeClr val="tx1"/>
                </a:solidFill>
                <a:effectLst/>
                <a:latin typeface="Arial" panose="020B0604020202020204" pitchFamily="34" charset="0"/>
              </a:rPr>
              <a:t> 92,050 Kg / Unidades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NI" altLang="es-NI"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NI" altLang="es-NI" sz="1800" b="1" i="0" u="none" strike="noStrike" cap="none" normalizeH="0" baseline="0" dirty="0">
                <a:ln>
                  <a:noFill/>
                </a:ln>
                <a:solidFill>
                  <a:schemeClr val="tx1"/>
                </a:solidFill>
                <a:effectLst/>
                <a:latin typeface="Arial" panose="020B0604020202020204" pitchFamily="34" charset="0"/>
              </a:rPr>
              <a:t>Total de Operaciones:</a:t>
            </a:r>
            <a:r>
              <a:rPr kumimoji="0" lang="es-NI" altLang="es-NI" sz="1800" b="0" i="0" u="none" strike="noStrike" cap="none" normalizeH="0" baseline="0" dirty="0">
                <a:ln>
                  <a:noFill/>
                </a:ln>
                <a:solidFill>
                  <a:schemeClr val="tx1"/>
                </a:solidFill>
                <a:effectLst/>
                <a:latin typeface="Arial" panose="020B0604020202020204" pitchFamily="34" charset="0"/>
              </a:rPr>
              <a:t> 100 transacciones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NI" altLang="es-NI"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NI" altLang="es-NI" sz="1800" b="1" i="0" u="none" strike="noStrike" cap="none" normalizeH="0" baseline="0" dirty="0">
                <a:ln>
                  <a:noFill/>
                </a:ln>
                <a:solidFill>
                  <a:schemeClr val="tx1"/>
                </a:solidFill>
                <a:effectLst/>
                <a:latin typeface="Arial" panose="020B0604020202020204" pitchFamily="34" charset="0"/>
              </a:rPr>
              <a:t>Distribución por Estado Logístico:</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NI" altLang="es-NI"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NI" altLang="es-NI" sz="1800" b="1" i="0" u="none" strike="noStrike" cap="none" normalizeH="0" baseline="0" dirty="0">
                <a:ln>
                  <a:noFill/>
                </a:ln>
                <a:solidFill>
                  <a:schemeClr val="tx1"/>
                </a:solidFill>
                <a:effectLst/>
                <a:latin typeface="Arial" panose="020B0604020202020204" pitchFamily="34" charset="0"/>
              </a:rPr>
              <a:t>Entregado:</a:t>
            </a:r>
            <a:r>
              <a:rPr kumimoji="0" lang="es-NI" altLang="es-NI" sz="1800" b="0" i="0" u="none" strike="noStrike" cap="none" normalizeH="0" baseline="0" dirty="0">
                <a:ln>
                  <a:noFill/>
                </a:ln>
                <a:solidFill>
                  <a:schemeClr val="tx1"/>
                </a:solidFill>
                <a:effectLst/>
                <a:latin typeface="Arial" panose="020B0604020202020204" pitchFamily="34" charset="0"/>
              </a:rPr>
              <a:t> 49 operaciones (49.0%) — $338,639.00 USD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NI" altLang="es-NI"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NI" altLang="es-NI" sz="1800" b="1" i="0" u="none" strike="noStrike" cap="none" normalizeH="0" baseline="0" dirty="0">
                <a:ln>
                  <a:noFill/>
                </a:ln>
                <a:solidFill>
                  <a:schemeClr val="tx1"/>
                </a:solidFill>
                <a:effectLst/>
                <a:latin typeface="Arial" panose="020B0604020202020204" pitchFamily="34" charset="0"/>
              </a:rPr>
              <a:t>Embarcado:</a:t>
            </a:r>
            <a:r>
              <a:rPr kumimoji="0" lang="es-NI" altLang="es-NI" sz="1800" b="0" i="0" u="none" strike="noStrike" cap="none" normalizeH="0" baseline="0" dirty="0">
                <a:ln>
                  <a:noFill/>
                </a:ln>
                <a:solidFill>
                  <a:schemeClr val="tx1"/>
                </a:solidFill>
                <a:effectLst/>
                <a:latin typeface="Arial" panose="020B0604020202020204" pitchFamily="34" charset="0"/>
              </a:rPr>
              <a:t> 36 operaciones (36.0%) — $226,181.00 USD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NI" altLang="es-NI"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NI" altLang="es-NI" sz="1800" b="1" i="0" u="none" strike="noStrike" cap="none" normalizeH="0" baseline="0" dirty="0">
                <a:ln>
                  <a:noFill/>
                </a:ln>
                <a:solidFill>
                  <a:schemeClr val="tx1"/>
                </a:solidFill>
                <a:effectLst/>
                <a:latin typeface="Arial" panose="020B0604020202020204" pitchFamily="34" charset="0"/>
              </a:rPr>
              <a:t>Pendiente:</a:t>
            </a:r>
            <a:r>
              <a:rPr kumimoji="0" lang="es-NI" altLang="es-NI" sz="1800" b="0" i="0" u="none" strike="noStrike" cap="none" normalizeH="0" baseline="0" dirty="0">
                <a:ln>
                  <a:noFill/>
                </a:ln>
                <a:solidFill>
                  <a:schemeClr val="tx1"/>
                </a:solidFill>
                <a:effectLst/>
                <a:latin typeface="Arial" panose="020B0604020202020204" pitchFamily="34" charset="0"/>
              </a:rPr>
              <a:t> 15 operaciones (15.0%) — $93,445.00 USD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NI" altLang="es-NI"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03717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BC48F82C-38DB-4DFC-B2D1-4644383312AA}"/>
              </a:ext>
            </a:extLst>
          </p:cNvPr>
          <p:cNvSpPr txBox="1"/>
          <p:nvPr/>
        </p:nvSpPr>
        <p:spPr>
          <a:xfrm>
            <a:off x="3356502" y="660270"/>
            <a:ext cx="4805863" cy="523220"/>
          </a:xfrm>
          <a:prstGeom prst="rect">
            <a:avLst/>
          </a:prstGeom>
          <a:noFill/>
        </p:spPr>
        <p:txBody>
          <a:bodyPr wrap="square" rtlCol="0">
            <a:spAutoFit/>
          </a:bodyPr>
          <a:lstStyle/>
          <a:p>
            <a:pPr algn="ctr"/>
            <a:r>
              <a:rPr lang="es-ES" sz="2800" b="1" dirty="0"/>
              <a:t>Principales mercados</a:t>
            </a:r>
            <a:endParaRPr lang="es-NI" sz="2800" b="1" dirty="0"/>
          </a:p>
        </p:txBody>
      </p:sp>
      <p:sp>
        <p:nvSpPr>
          <p:cNvPr id="10" name="Rectangle 5">
            <a:extLst>
              <a:ext uri="{FF2B5EF4-FFF2-40B4-BE49-F238E27FC236}">
                <a16:creationId xmlns:a16="http://schemas.microsoft.com/office/drawing/2014/main" id="{A926F994-1F64-4999-A920-F6ABE8795C1E}"/>
              </a:ext>
            </a:extLst>
          </p:cNvPr>
          <p:cNvSpPr>
            <a:spLocks noChangeArrowheads="1"/>
          </p:cNvSpPr>
          <p:nvPr/>
        </p:nvSpPr>
        <p:spPr bwMode="auto">
          <a:xfrm>
            <a:off x="926218" y="1329838"/>
            <a:ext cx="9952454"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NI" altLang="es-NI" sz="1800" b="1" i="0" u="none" strike="noStrike" cap="none" normalizeH="0" baseline="0" dirty="0">
                <a:ln>
                  <a:noFill/>
                </a:ln>
                <a:solidFill>
                  <a:schemeClr val="tx1"/>
                </a:solidFill>
                <a:effectLst/>
                <a:latin typeface="Arial" panose="020B0604020202020204" pitchFamily="34" charset="0"/>
              </a:rPr>
              <a:t>Liderazgo Comercial de Norteamérica y Europa:</a:t>
            </a:r>
            <a:r>
              <a:rPr kumimoji="0" lang="es-NI" altLang="es-NI" sz="1800" b="0" i="0" u="none" strike="noStrike" cap="none" normalizeH="0" baseline="0" dirty="0">
                <a:ln>
                  <a:noFill/>
                </a:ln>
                <a:solidFill>
                  <a:schemeClr val="tx1"/>
                </a:solidFill>
                <a:effectLst/>
                <a:latin typeface="Arial" panose="020B0604020202020204" pitchFamily="34" charset="0"/>
              </a:rPr>
              <a:t> </a:t>
            </a:r>
            <a:r>
              <a:rPr kumimoji="0" lang="es-NI" altLang="es-NI" sz="1800" i="0" u="none" strike="noStrike" cap="none" normalizeH="0" baseline="0" dirty="0">
                <a:ln>
                  <a:noFill/>
                </a:ln>
                <a:solidFill>
                  <a:schemeClr val="tx1"/>
                </a:solidFill>
                <a:effectLst/>
                <a:latin typeface="Arial" panose="020B0604020202020204" pitchFamily="34" charset="0"/>
              </a:rPr>
              <a:t>Estados Unidos </a:t>
            </a:r>
            <a:r>
              <a:rPr kumimoji="0" lang="es-NI" altLang="es-NI" sz="1800" b="0" i="0" u="none" strike="noStrike" cap="none" normalizeH="0" baseline="0" dirty="0">
                <a:ln>
                  <a:noFill/>
                </a:ln>
                <a:solidFill>
                  <a:schemeClr val="tx1"/>
                </a:solidFill>
                <a:effectLst/>
                <a:latin typeface="Arial" panose="020B0604020202020204" pitchFamily="34" charset="0"/>
              </a:rPr>
              <a:t>se consolida como el mercado estratégico más importante para NicaExport Trading, aportando </a:t>
            </a:r>
            <a:r>
              <a:rPr kumimoji="0" lang="es-NI" altLang="es-NI" sz="1800" i="0" u="none" strike="noStrike" cap="none" normalizeH="0" baseline="0" dirty="0">
                <a:ln>
                  <a:noFill/>
                </a:ln>
                <a:solidFill>
                  <a:schemeClr val="tx1"/>
                </a:solidFill>
                <a:effectLst/>
                <a:latin typeface="Arial" panose="020B0604020202020204" pitchFamily="34" charset="0"/>
              </a:rPr>
              <a:t>$168,745.00 USD </a:t>
            </a:r>
            <a:r>
              <a:rPr kumimoji="0" lang="es-NI" altLang="es-NI" sz="1800" b="0" i="0" u="none" strike="noStrike" cap="none" normalizeH="0" baseline="0" dirty="0">
                <a:ln>
                  <a:noFill/>
                </a:ln>
                <a:solidFill>
                  <a:schemeClr val="tx1"/>
                </a:solidFill>
                <a:effectLst/>
                <a:latin typeface="Arial" panose="020B0604020202020204" pitchFamily="34" charset="0"/>
              </a:rPr>
              <a:t>(25.63% de la facturación global) a través del cliente Global Foods. Por su parte, </a:t>
            </a:r>
            <a:r>
              <a:rPr kumimoji="0" lang="es-NI" altLang="es-NI" sz="1800" i="0" u="none" strike="noStrike" cap="none" normalizeH="0" baseline="0" dirty="0">
                <a:ln>
                  <a:noFill/>
                </a:ln>
                <a:solidFill>
                  <a:schemeClr val="tx1"/>
                </a:solidFill>
                <a:effectLst/>
                <a:latin typeface="Arial" panose="020B0604020202020204" pitchFamily="34" charset="0"/>
              </a:rPr>
              <a:t>España </a:t>
            </a:r>
            <a:r>
              <a:rPr kumimoji="0" lang="es-NI" altLang="es-NI" sz="1800" b="0" i="0" u="none" strike="noStrike" cap="none" normalizeH="0" baseline="0" dirty="0">
                <a:ln>
                  <a:noFill/>
                </a:ln>
                <a:solidFill>
                  <a:schemeClr val="tx1"/>
                </a:solidFill>
                <a:effectLst/>
                <a:latin typeface="Arial" panose="020B0604020202020204" pitchFamily="34" charset="0"/>
              </a:rPr>
              <a:t>representa el mercado de mayor valor fuera del continente americano, situándose en segundo lugar con </a:t>
            </a:r>
            <a:r>
              <a:rPr kumimoji="0" lang="es-NI" altLang="es-NI" sz="1800" i="0" u="none" strike="noStrike" cap="none" normalizeH="0" baseline="0" dirty="0">
                <a:ln>
                  <a:noFill/>
                </a:ln>
                <a:solidFill>
                  <a:schemeClr val="tx1"/>
                </a:solidFill>
                <a:effectLst/>
                <a:latin typeface="Arial" panose="020B0604020202020204" pitchFamily="34" charset="0"/>
              </a:rPr>
              <a:t>$136,328.00 USD </a:t>
            </a:r>
            <a:r>
              <a:rPr kumimoji="0" lang="es-NI" altLang="es-NI" sz="1800" b="0" i="0" u="none" strike="noStrike" cap="none" normalizeH="0" baseline="0" dirty="0">
                <a:ln>
                  <a:noFill/>
                </a:ln>
                <a:solidFill>
                  <a:schemeClr val="tx1"/>
                </a:solidFill>
                <a:effectLst/>
                <a:latin typeface="Arial" panose="020B0604020202020204" pitchFamily="34" charset="0"/>
              </a:rPr>
              <a:t>(20.71% de las ventas totales). Juntos, ambos destinos concentran casi la mitad de los ingresos de la empresa (</a:t>
            </a:r>
            <a:r>
              <a:rPr kumimoji="0" lang="es-NI" altLang="es-NI" sz="1800" i="0" u="none" strike="noStrike" cap="none" normalizeH="0" baseline="0" dirty="0">
                <a:ln>
                  <a:noFill/>
                </a:ln>
                <a:solidFill>
                  <a:schemeClr val="tx1"/>
                </a:solidFill>
                <a:effectLst/>
                <a:latin typeface="Arial" panose="020B0604020202020204" pitchFamily="34" charset="0"/>
              </a:rPr>
              <a:t>46.34%</a:t>
            </a:r>
            <a:r>
              <a:rPr kumimoji="0" lang="es-NI" altLang="es-NI"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NI" altLang="es-NI"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NI" altLang="es-NI" sz="1800" b="1" i="0" u="none" strike="noStrike" cap="none" normalizeH="0" baseline="0" dirty="0">
                <a:ln>
                  <a:noFill/>
                </a:ln>
                <a:solidFill>
                  <a:schemeClr val="tx1"/>
                </a:solidFill>
                <a:effectLst/>
                <a:latin typeface="Arial" panose="020B0604020202020204" pitchFamily="34" charset="0"/>
              </a:rPr>
              <a:t>Desempeño Equitativo en Latinoamérica:</a:t>
            </a:r>
            <a:r>
              <a:rPr kumimoji="0" lang="es-NI" altLang="es-NI" sz="1800" b="0" i="0" u="none" strike="noStrike" cap="none" normalizeH="0" baseline="0" dirty="0">
                <a:ln>
                  <a:noFill/>
                </a:ln>
                <a:solidFill>
                  <a:schemeClr val="tx1"/>
                </a:solidFill>
                <a:effectLst/>
                <a:latin typeface="Arial" panose="020B0604020202020204" pitchFamily="34" charset="0"/>
              </a:rPr>
              <a:t> Los mercados de </a:t>
            </a:r>
            <a:r>
              <a:rPr kumimoji="0" lang="es-NI" altLang="es-NI" sz="1800" i="0" u="none" strike="noStrike" cap="none" normalizeH="0" baseline="0" dirty="0">
                <a:ln>
                  <a:noFill/>
                </a:ln>
                <a:solidFill>
                  <a:schemeClr val="tx1"/>
                </a:solidFill>
                <a:effectLst/>
                <a:latin typeface="Arial" panose="020B0604020202020204" pitchFamily="34" charset="0"/>
              </a:rPr>
              <a:t>México</a:t>
            </a:r>
            <a:r>
              <a:rPr kumimoji="0" lang="es-NI" altLang="es-NI" sz="1800" b="0" i="0" u="none" strike="noStrike" cap="none" normalizeH="0" baseline="0" dirty="0">
                <a:ln>
                  <a:noFill/>
                </a:ln>
                <a:solidFill>
                  <a:schemeClr val="tx1"/>
                </a:solidFill>
                <a:effectLst/>
                <a:latin typeface="Arial" panose="020B0604020202020204" pitchFamily="34" charset="0"/>
              </a:rPr>
              <a:t>, </a:t>
            </a:r>
            <a:r>
              <a:rPr kumimoji="0" lang="es-NI" altLang="es-NI" sz="1800" i="0" u="none" strike="noStrike" cap="none" normalizeH="0" baseline="0" dirty="0">
                <a:ln>
                  <a:noFill/>
                </a:ln>
                <a:solidFill>
                  <a:schemeClr val="tx1"/>
                </a:solidFill>
                <a:effectLst/>
                <a:latin typeface="Arial" panose="020B0604020202020204" pitchFamily="34" charset="0"/>
              </a:rPr>
              <a:t>Guatemala</a:t>
            </a:r>
            <a:r>
              <a:rPr kumimoji="0" lang="es-NI" altLang="es-NI" sz="1800" b="0" i="0" u="none" strike="noStrike" cap="none" normalizeH="0" baseline="0" dirty="0">
                <a:ln>
                  <a:noFill/>
                </a:ln>
                <a:solidFill>
                  <a:schemeClr val="tx1"/>
                </a:solidFill>
                <a:effectLst/>
                <a:latin typeface="Arial" panose="020B0604020202020204" pitchFamily="34" charset="0"/>
              </a:rPr>
              <a:t> y </a:t>
            </a:r>
            <a:r>
              <a:rPr kumimoji="0" lang="es-NI" altLang="es-NI" sz="1800" i="0" u="none" strike="noStrike" cap="none" normalizeH="0" baseline="0" dirty="0">
                <a:ln>
                  <a:noFill/>
                </a:ln>
                <a:solidFill>
                  <a:schemeClr val="tx1"/>
                </a:solidFill>
                <a:effectLst/>
                <a:latin typeface="Arial" panose="020B0604020202020204" pitchFamily="34" charset="0"/>
              </a:rPr>
              <a:t>Costa Rica </a:t>
            </a:r>
            <a:r>
              <a:rPr kumimoji="0" lang="es-NI" altLang="es-NI" sz="1800" b="0" i="0" u="none" strike="noStrike" cap="none" normalizeH="0" baseline="0" dirty="0">
                <a:ln>
                  <a:noFill/>
                </a:ln>
                <a:solidFill>
                  <a:schemeClr val="tx1"/>
                </a:solidFill>
                <a:effectLst/>
                <a:latin typeface="Arial" panose="020B0604020202020204" pitchFamily="34" charset="0"/>
              </a:rPr>
              <a:t>exhiben un comportamiento sumamente homogéneo en volumen transaccional, con 20 operaciones por país y valores de exportación que oscilan entre </a:t>
            </a:r>
            <a:r>
              <a:rPr kumimoji="0" lang="es-NI" altLang="es-NI" sz="1800" i="0" u="none" strike="noStrike" cap="none" normalizeH="0" baseline="0" dirty="0">
                <a:ln>
                  <a:noFill/>
                </a:ln>
                <a:solidFill>
                  <a:schemeClr val="tx1"/>
                </a:solidFill>
                <a:effectLst/>
                <a:latin typeface="Arial" panose="020B0604020202020204" pitchFamily="34" charset="0"/>
              </a:rPr>
              <a:t>$113,544.00 USD y $120,313.00 USD</a:t>
            </a:r>
            <a:r>
              <a:rPr kumimoji="0" lang="es-NI" altLang="es-NI" sz="1800" b="0" i="0" u="none" strike="noStrike" cap="none" normalizeH="0" baseline="0" dirty="0">
                <a:ln>
                  <a:noFill/>
                </a:ln>
                <a:solidFill>
                  <a:schemeClr val="tx1"/>
                </a:solidFill>
                <a:effectLst/>
                <a:latin typeface="Arial" panose="020B0604020202020204" pitchFamily="34" charset="0"/>
              </a:rPr>
              <a:t>. Cada uno representa entre el 17% y el 18% del total exportado.</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NI" altLang="es-NI"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NI" altLang="es-NI" sz="1800" b="1" i="0" u="none" strike="noStrike" cap="none" normalizeH="0" baseline="0" dirty="0">
                <a:ln>
                  <a:noFill/>
                </a:ln>
                <a:solidFill>
                  <a:schemeClr val="tx1"/>
                </a:solidFill>
                <a:effectLst/>
                <a:latin typeface="Arial" panose="020B0604020202020204" pitchFamily="34" charset="0"/>
              </a:rPr>
              <a:t>Estabilidad en la Generación de Utilidad:</a:t>
            </a:r>
            <a:r>
              <a:rPr kumimoji="0" lang="es-NI" altLang="es-NI" sz="1800" b="0" i="0" u="none" strike="noStrike" cap="none" normalizeH="0" baseline="0" dirty="0">
                <a:ln>
                  <a:noFill/>
                </a:ln>
                <a:solidFill>
                  <a:schemeClr val="tx1"/>
                </a:solidFill>
                <a:effectLst/>
                <a:latin typeface="Arial" panose="020B0604020202020204" pitchFamily="34" charset="0"/>
              </a:rPr>
              <a:t> A pesar de las diferencias geográficas y arancelarias, los 5 destinos mantienen un aporte de utilidad muy parejo, registrando márgenes promedio globales altamente estables (entre 32.04% y 33.04%). Esto confirma una sólida consistencia en las políticas de precios FOB aplicadas a cada región.</a:t>
            </a:r>
          </a:p>
        </p:txBody>
      </p:sp>
    </p:spTree>
    <p:extLst>
      <p:ext uri="{BB962C8B-B14F-4D97-AF65-F5344CB8AC3E}">
        <p14:creationId xmlns:p14="http://schemas.microsoft.com/office/powerpoint/2010/main" val="1889465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BC48F82C-38DB-4DFC-B2D1-4644383312AA}"/>
              </a:ext>
            </a:extLst>
          </p:cNvPr>
          <p:cNvSpPr txBox="1"/>
          <p:nvPr/>
        </p:nvSpPr>
        <p:spPr>
          <a:xfrm>
            <a:off x="2858961" y="646822"/>
            <a:ext cx="5962310" cy="523220"/>
          </a:xfrm>
          <a:prstGeom prst="rect">
            <a:avLst/>
          </a:prstGeom>
          <a:noFill/>
        </p:spPr>
        <p:txBody>
          <a:bodyPr wrap="square" rtlCol="0">
            <a:spAutoFit/>
          </a:bodyPr>
          <a:lstStyle/>
          <a:p>
            <a:pPr algn="ctr"/>
            <a:r>
              <a:rPr lang="es-ES" sz="2800" b="1" dirty="0"/>
              <a:t>Productos más importantes</a:t>
            </a:r>
            <a:endParaRPr lang="es-NI" sz="2800" b="1" dirty="0"/>
          </a:p>
        </p:txBody>
      </p:sp>
      <p:sp>
        <p:nvSpPr>
          <p:cNvPr id="5" name="CuadroTexto 4">
            <a:extLst>
              <a:ext uri="{FF2B5EF4-FFF2-40B4-BE49-F238E27FC236}">
                <a16:creationId xmlns:a16="http://schemas.microsoft.com/office/drawing/2014/main" id="{F951A515-7FE1-4DF7-A133-F4CD79AE4242}"/>
              </a:ext>
            </a:extLst>
          </p:cNvPr>
          <p:cNvSpPr txBox="1"/>
          <p:nvPr/>
        </p:nvSpPr>
        <p:spPr>
          <a:xfrm>
            <a:off x="1264023" y="1595788"/>
            <a:ext cx="7735420" cy="4524315"/>
          </a:xfrm>
          <a:prstGeom prst="rect">
            <a:avLst/>
          </a:prstGeom>
          <a:noFill/>
        </p:spPr>
        <p:txBody>
          <a:bodyPr wrap="square">
            <a:spAutoFit/>
          </a:bodyPr>
          <a:lstStyle/>
          <a:p>
            <a:pPr marL="285750" indent="-285750">
              <a:buFont typeface="Arial" panose="020B0604020202020204" pitchFamily="34" charset="0"/>
              <a:buChar char="•"/>
            </a:pPr>
            <a:r>
              <a:rPr lang="es-MX" b="1" dirty="0">
                <a:latin typeface="Arial" panose="020B0604020202020204" pitchFamily="34" charset="0"/>
                <a:cs typeface="Arial" panose="020B0604020202020204" pitchFamily="34" charset="0"/>
              </a:rPr>
              <a:t>Café Especial como Líder Indiscutible:</a:t>
            </a:r>
            <a:r>
              <a:rPr lang="es-MX" dirty="0">
                <a:latin typeface="Arial" panose="020B0604020202020204" pitchFamily="34" charset="0"/>
                <a:cs typeface="Arial" panose="020B0604020202020204" pitchFamily="34" charset="0"/>
              </a:rPr>
              <a:t> El Café especial encabeza la cartera comercial al generar $170,170.00 USD (25.85% de los ingresos totales) a través de 24 transacciones, posicionándose como el rubro bandera de la empresa.</a:t>
            </a:r>
          </a:p>
          <a:p>
            <a:pPr marL="285750" indent="-285750">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MX" b="1" dirty="0">
                <a:latin typeface="Arial" panose="020B0604020202020204" pitchFamily="34" charset="0"/>
                <a:cs typeface="Arial" panose="020B0604020202020204" pitchFamily="34" charset="0"/>
              </a:rPr>
              <a:t>Diversificación con Alto Valor Agregado: </a:t>
            </a:r>
            <a:r>
              <a:rPr lang="es-MX" dirty="0">
                <a:latin typeface="Arial" panose="020B0604020202020204" pitchFamily="34" charset="0"/>
                <a:cs typeface="Arial" panose="020B0604020202020204" pitchFamily="34" charset="0"/>
              </a:rPr>
              <a:t>El Aceite de ajonjolí se ubica en el segundo puesto con $138,875.00 USD (21.10%), destacando por un valor unitario superior. Le siguen de cerca el Maní procesado con $119,556.00 USD (18.16%), la Miel natural con $116,064.00 USD (17.63%) y el Cacao en grano con $113,600.00 USD (17.26%).</a:t>
            </a:r>
          </a:p>
          <a:p>
            <a:pPr marL="285750" indent="-285750">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MX" b="1" dirty="0">
                <a:latin typeface="Arial" panose="020B0604020202020204" pitchFamily="34" charset="0"/>
                <a:cs typeface="Arial" panose="020B0604020202020204" pitchFamily="34" charset="0"/>
              </a:rPr>
              <a:t>Equilibrio de Portafolio:</a:t>
            </a:r>
            <a:r>
              <a:rPr lang="es-MX" dirty="0">
                <a:latin typeface="Arial" panose="020B0604020202020204" pitchFamily="34" charset="0"/>
                <a:cs typeface="Arial" panose="020B0604020202020204" pitchFamily="34" charset="0"/>
              </a:rPr>
              <a:t> La diferencia en generación de ingresos entre el segundo y el quinto producto es de solo 3.84%, lo que demuestra una cartera diversificada que reduce el riesgo de dependencia comercial.</a:t>
            </a:r>
            <a:endParaRPr lang="es-NI"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654308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BC48F82C-38DB-4DFC-B2D1-4644383312AA}"/>
              </a:ext>
            </a:extLst>
          </p:cNvPr>
          <p:cNvSpPr txBox="1"/>
          <p:nvPr/>
        </p:nvSpPr>
        <p:spPr>
          <a:xfrm>
            <a:off x="3316161" y="539246"/>
            <a:ext cx="5491663" cy="954107"/>
          </a:xfrm>
          <a:prstGeom prst="rect">
            <a:avLst/>
          </a:prstGeom>
          <a:noFill/>
        </p:spPr>
        <p:txBody>
          <a:bodyPr wrap="square" rtlCol="0">
            <a:spAutoFit/>
          </a:bodyPr>
          <a:lstStyle/>
          <a:p>
            <a:pPr algn="ctr"/>
            <a:r>
              <a:rPr lang="es-ES" sz="2800" b="1" dirty="0"/>
              <a:t>Rentabilidad y operaciones prioritarias</a:t>
            </a:r>
            <a:endParaRPr lang="es-NI" sz="2800" b="1" dirty="0"/>
          </a:p>
        </p:txBody>
      </p:sp>
      <p:sp>
        <p:nvSpPr>
          <p:cNvPr id="2" name="Rectangle 1">
            <a:extLst>
              <a:ext uri="{FF2B5EF4-FFF2-40B4-BE49-F238E27FC236}">
                <a16:creationId xmlns:a16="http://schemas.microsoft.com/office/drawing/2014/main" id="{794E29DC-90CD-4B3F-8CB1-E676F30CA440}"/>
              </a:ext>
            </a:extLst>
          </p:cNvPr>
          <p:cNvSpPr>
            <a:spLocks noChangeArrowheads="1"/>
          </p:cNvSpPr>
          <p:nvPr/>
        </p:nvSpPr>
        <p:spPr bwMode="auto">
          <a:xfrm>
            <a:off x="1358153" y="1733565"/>
            <a:ext cx="8794376"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NI" altLang="es-NI" sz="1800" b="1" i="0" u="none" strike="noStrike" cap="none" normalizeH="0" baseline="0" dirty="0">
                <a:ln>
                  <a:noFill/>
                </a:ln>
                <a:solidFill>
                  <a:schemeClr val="tx1"/>
                </a:solidFill>
                <a:effectLst/>
                <a:latin typeface="Arial" panose="020B0604020202020204" pitchFamily="34" charset="0"/>
              </a:rPr>
              <a:t> Jerarquía de Rentabilidad por Rubro:</a:t>
            </a:r>
            <a:r>
              <a:rPr kumimoji="0" lang="es-NI" altLang="es-NI" sz="1800" b="0" i="0" u="none" strike="noStrike" cap="none" normalizeH="0" baseline="0" dirty="0">
                <a:ln>
                  <a:noFill/>
                </a:ln>
                <a:solidFill>
                  <a:schemeClr val="tx1"/>
                </a:solidFill>
                <a:effectLst/>
                <a:latin typeface="Arial" panose="020B0604020202020204" pitchFamily="34" charset="0"/>
              </a:rPr>
              <a:t> El </a:t>
            </a:r>
            <a:r>
              <a:rPr kumimoji="0" lang="es-NI" altLang="es-NI" sz="1800" i="0" u="none" strike="noStrike" cap="none" normalizeH="0" baseline="0" dirty="0">
                <a:ln>
                  <a:noFill/>
                </a:ln>
                <a:solidFill>
                  <a:schemeClr val="tx1"/>
                </a:solidFill>
                <a:effectLst/>
                <a:latin typeface="Arial" panose="020B0604020202020204" pitchFamily="34" charset="0"/>
              </a:rPr>
              <a:t>Café especial</a:t>
            </a:r>
            <a:r>
              <a:rPr kumimoji="0" lang="es-NI" altLang="es-NI" sz="1800" b="0" i="0" u="none" strike="noStrike" cap="none" normalizeH="0" baseline="0" dirty="0">
                <a:ln>
                  <a:noFill/>
                </a:ln>
                <a:solidFill>
                  <a:schemeClr val="tx1"/>
                </a:solidFill>
                <a:effectLst/>
                <a:latin typeface="Arial" panose="020B0604020202020204" pitchFamily="34" charset="0"/>
              </a:rPr>
              <a:t> destaca como el producto más rentable con un margen de utilidad promedio del </a:t>
            </a:r>
            <a:r>
              <a:rPr kumimoji="0" lang="es-NI" altLang="es-NI" sz="1800" i="0" u="none" strike="noStrike" cap="none" normalizeH="0" baseline="0" dirty="0">
                <a:ln>
                  <a:noFill/>
                </a:ln>
                <a:solidFill>
                  <a:schemeClr val="tx1"/>
                </a:solidFill>
                <a:effectLst/>
                <a:latin typeface="Arial" panose="020B0604020202020204" pitchFamily="34" charset="0"/>
              </a:rPr>
              <a:t>36.92%</a:t>
            </a:r>
            <a:r>
              <a:rPr kumimoji="0" lang="es-NI" altLang="es-NI" sz="1800" b="0" i="0" u="none" strike="noStrike" cap="none" normalizeH="0" baseline="0" dirty="0">
                <a:ln>
                  <a:noFill/>
                </a:ln>
                <a:solidFill>
                  <a:schemeClr val="tx1"/>
                </a:solidFill>
                <a:effectLst/>
                <a:latin typeface="Arial" panose="020B0604020202020204" pitchFamily="34" charset="0"/>
              </a:rPr>
              <a:t>, seguido por la </a:t>
            </a:r>
            <a:r>
              <a:rPr kumimoji="0" lang="es-NI" altLang="es-NI" sz="1800" i="0" u="none" strike="noStrike" cap="none" normalizeH="0" baseline="0" dirty="0">
                <a:ln>
                  <a:noFill/>
                </a:ln>
                <a:solidFill>
                  <a:schemeClr val="tx1"/>
                </a:solidFill>
                <a:effectLst/>
                <a:latin typeface="Arial" panose="020B0604020202020204" pitchFamily="34" charset="0"/>
              </a:rPr>
              <a:t>Miel natural </a:t>
            </a:r>
            <a:r>
              <a:rPr kumimoji="0" lang="es-NI" altLang="es-NI" sz="1800" b="0" i="0" u="none" strike="noStrike" cap="none" normalizeH="0" baseline="0" dirty="0">
                <a:ln>
                  <a:noFill/>
                </a:ln>
                <a:solidFill>
                  <a:schemeClr val="tx1"/>
                </a:solidFill>
                <a:effectLst/>
                <a:latin typeface="Arial" panose="020B0604020202020204" pitchFamily="34" charset="0"/>
              </a:rPr>
              <a:t>(</a:t>
            </a:r>
            <a:r>
              <a:rPr kumimoji="0" lang="es-NI" altLang="es-NI" sz="1800" i="0" u="none" strike="noStrike" cap="none" normalizeH="0" baseline="0" dirty="0">
                <a:ln>
                  <a:noFill/>
                </a:ln>
                <a:solidFill>
                  <a:schemeClr val="tx1"/>
                </a:solidFill>
                <a:effectLst/>
                <a:latin typeface="Arial" panose="020B0604020202020204" pitchFamily="34" charset="0"/>
              </a:rPr>
              <a:t>33.33%</a:t>
            </a:r>
            <a:r>
              <a:rPr kumimoji="0" lang="es-NI" altLang="es-NI" sz="1800" b="0" i="0" u="none" strike="noStrike" cap="none" normalizeH="0" baseline="0" dirty="0">
                <a:ln>
                  <a:noFill/>
                </a:ln>
                <a:solidFill>
                  <a:schemeClr val="tx1"/>
                </a:solidFill>
                <a:effectLst/>
                <a:latin typeface="Arial" panose="020B0604020202020204" pitchFamily="34" charset="0"/>
              </a:rPr>
              <a:t>) y el </a:t>
            </a:r>
            <a:r>
              <a:rPr kumimoji="0" lang="es-NI" altLang="es-NI" sz="1800" i="0" u="none" strike="noStrike" cap="none" normalizeH="0" baseline="0" dirty="0">
                <a:ln>
                  <a:noFill/>
                </a:ln>
                <a:solidFill>
                  <a:schemeClr val="tx1"/>
                </a:solidFill>
                <a:effectLst/>
                <a:latin typeface="Arial" panose="020B0604020202020204" pitchFamily="34" charset="0"/>
              </a:rPr>
              <a:t>Cacao en grano </a:t>
            </a:r>
            <a:r>
              <a:rPr kumimoji="0" lang="es-NI" altLang="es-NI" sz="1800" b="0" i="0" u="none" strike="noStrike" cap="none" normalizeH="0" baseline="0" dirty="0">
                <a:ln>
                  <a:noFill/>
                </a:ln>
                <a:solidFill>
                  <a:schemeClr val="tx1"/>
                </a:solidFill>
                <a:effectLst/>
                <a:latin typeface="Arial" panose="020B0604020202020204" pitchFamily="34" charset="0"/>
              </a:rPr>
              <a:t>(</a:t>
            </a:r>
            <a:r>
              <a:rPr kumimoji="0" lang="es-NI" altLang="es-NI" sz="1800" i="0" u="none" strike="noStrike" cap="none" normalizeH="0" baseline="0" dirty="0">
                <a:ln>
                  <a:noFill/>
                </a:ln>
                <a:solidFill>
                  <a:schemeClr val="tx1"/>
                </a:solidFill>
                <a:effectLst/>
                <a:latin typeface="Arial" panose="020B0604020202020204" pitchFamily="34" charset="0"/>
              </a:rPr>
              <a:t>32.39%). </a:t>
            </a:r>
            <a:r>
              <a:rPr kumimoji="0" lang="es-NI" altLang="es-NI" sz="1800" b="0" i="0" u="none" strike="noStrike" cap="none" normalizeH="0" baseline="0" dirty="0">
                <a:ln>
                  <a:noFill/>
                </a:ln>
                <a:solidFill>
                  <a:schemeClr val="tx1"/>
                </a:solidFill>
                <a:effectLst/>
                <a:latin typeface="Arial" panose="020B0604020202020204" pitchFamily="34" charset="0"/>
              </a:rPr>
              <a:t>El </a:t>
            </a:r>
            <a:r>
              <a:rPr kumimoji="0" lang="es-NI" altLang="es-NI" sz="1800" i="0" u="none" strike="noStrike" cap="none" normalizeH="0" baseline="0" dirty="0">
                <a:ln>
                  <a:noFill/>
                </a:ln>
                <a:solidFill>
                  <a:schemeClr val="tx1"/>
                </a:solidFill>
                <a:effectLst/>
                <a:latin typeface="Arial" panose="020B0604020202020204" pitchFamily="34" charset="0"/>
              </a:rPr>
              <a:t>Aceite de ajonjolí </a:t>
            </a:r>
            <a:r>
              <a:rPr kumimoji="0" lang="es-NI" altLang="es-NI" sz="1800" b="0" i="0" u="none" strike="noStrike" cap="none" normalizeH="0" baseline="0" dirty="0">
                <a:ln>
                  <a:noFill/>
                </a:ln>
                <a:solidFill>
                  <a:schemeClr val="tx1"/>
                </a:solidFill>
                <a:effectLst/>
                <a:latin typeface="Arial" panose="020B0604020202020204" pitchFamily="34" charset="0"/>
              </a:rPr>
              <a:t>registra un </a:t>
            </a:r>
            <a:r>
              <a:rPr kumimoji="0" lang="es-NI" altLang="es-NI" sz="1800" i="0" u="none" strike="noStrike" cap="none" normalizeH="0" baseline="0" dirty="0">
                <a:ln>
                  <a:noFill/>
                </a:ln>
                <a:solidFill>
                  <a:schemeClr val="tx1"/>
                </a:solidFill>
                <a:effectLst/>
                <a:latin typeface="Arial" panose="020B0604020202020204" pitchFamily="34" charset="0"/>
              </a:rPr>
              <a:t>30.40%</a:t>
            </a:r>
            <a:r>
              <a:rPr kumimoji="0" lang="es-NI" altLang="es-NI" sz="1800" b="0" i="0" u="none" strike="noStrike" cap="none" normalizeH="0" baseline="0" dirty="0">
                <a:ln>
                  <a:noFill/>
                </a:ln>
                <a:solidFill>
                  <a:schemeClr val="tx1"/>
                </a:solidFill>
                <a:effectLst/>
                <a:latin typeface="Arial" panose="020B0604020202020204" pitchFamily="34" charset="0"/>
              </a:rPr>
              <a:t>, mientras que el </a:t>
            </a:r>
            <a:r>
              <a:rPr kumimoji="0" lang="es-NI" altLang="es-NI" sz="1800" i="0" u="none" strike="noStrike" cap="none" normalizeH="0" baseline="0" dirty="0">
                <a:ln>
                  <a:noFill/>
                </a:ln>
                <a:solidFill>
                  <a:schemeClr val="tx1"/>
                </a:solidFill>
                <a:effectLst/>
                <a:latin typeface="Arial" panose="020B0604020202020204" pitchFamily="34" charset="0"/>
              </a:rPr>
              <a:t>Maní procesado </a:t>
            </a:r>
            <a:r>
              <a:rPr kumimoji="0" lang="es-NI" altLang="es-NI" sz="1800" b="0" i="0" u="none" strike="noStrike" cap="none" normalizeH="0" baseline="0" dirty="0">
                <a:ln>
                  <a:noFill/>
                </a:ln>
                <a:solidFill>
                  <a:schemeClr val="tx1"/>
                </a:solidFill>
                <a:effectLst/>
                <a:latin typeface="Arial" panose="020B0604020202020204" pitchFamily="34" charset="0"/>
              </a:rPr>
              <a:t>obtiene la menor rentabilidad con </a:t>
            </a:r>
            <a:r>
              <a:rPr kumimoji="0" lang="es-NI" altLang="es-NI" sz="1800" i="0" u="none" strike="noStrike" cap="none" normalizeH="0" baseline="0" dirty="0">
                <a:ln>
                  <a:noFill/>
                </a:ln>
                <a:solidFill>
                  <a:schemeClr val="tx1"/>
                </a:solidFill>
                <a:effectLst/>
                <a:latin typeface="Arial" panose="020B0604020202020204" pitchFamily="34" charset="0"/>
              </a:rPr>
              <a:t>28.05%</a:t>
            </a:r>
            <a:r>
              <a:rPr kumimoji="0" lang="es-NI" altLang="es-NI"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NI" altLang="es-NI"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NI" altLang="es-NI" sz="1800" b="1" i="0" u="none" strike="noStrike" cap="none" normalizeH="0" baseline="0" dirty="0">
                <a:ln>
                  <a:noFill/>
                </a:ln>
                <a:solidFill>
                  <a:schemeClr val="tx1"/>
                </a:solidFill>
                <a:effectLst/>
                <a:latin typeface="Arial" panose="020B0604020202020204" pitchFamily="34" charset="0"/>
              </a:rPr>
              <a:t> Atención Prioritaria a Despachos Pendientes:</a:t>
            </a:r>
            <a:r>
              <a:rPr kumimoji="0" lang="es-NI" altLang="es-NI" sz="1800" b="0" i="0" u="none" strike="noStrike" cap="none" normalizeH="0" baseline="0" dirty="0">
                <a:ln>
                  <a:noFill/>
                </a:ln>
                <a:solidFill>
                  <a:schemeClr val="tx1"/>
                </a:solidFill>
                <a:effectLst/>
                <a:latin typeface="Arial" panose="020B0604020202020204" pitchFamily="34" charset="0"/>
              </a:rPr>
              <a:t> Es urgente agilizar las </a:t>
            </a:r>
            <a:r>
              <a:rPr kumimoji="0" lang="es-NI" altLang="es-NI" sz="1800" i="0" u="none" strike="noStrike" cap="none" normalizeH="0" baseline="0" dirty="0">
                <a:ln>
                  <a:noFill/>
                </a:ln>
                <a:solidFill>
                  <a:schemeClr val="tx1"/>
                </a:solidFill>
                <a:effectLst/>
                <a:latin typeface="Arial" panose="020B0604020202020204" pitchFamily="34" charset="0"/>
              </a:rPr>
              <a:t>15 operaciones pendientes </a:t>
            </a:r>
            <a:r>
              <a:rPr kumimoji="0" lang="es-NI" altLang="es-NI" sz="1800" b="0" i="0" u="none" strike="noStrike" cap="none" normalizeH="0" baseline="0" dirty="0">
                <a:ln>
                  <a:noFill/>
                </a:ln>
                <a:solidFill>
                  <a:schemeClr val="tx1"/>
                </a:solidFill>
                <a:effectLst/>
                <a:latin typeface="Arial" panose="020B0604020202020204" pitchFamily="34" charset="0"/>
              </a:rPr>
              <a:t>que representan </a:t>
            </a:r>
            <a:r>
              <a:rPr kumimoji="0" lang="es-NI" altLang="es-NI" sz="1800" i="0" u="none" strike="noStrike" cap="none" normalizeH="0" baseline="0" dirty="0">
                <a:ln>
                  <a:noFill/>
                </a:ln>
                <a:solidFill>
                  <a:schemeClr val="tx1"/>
                </a:solidFill>
                <a:effectLst/>
                <a:latin typeface="Arial" panose="020B0604020202020204" pitchFamily="34" charset="0"/>
              </a:rPr>
              <a:t>$93,445.00 USD </a:t>
            </a:r>
            <a:r>
              <a:rPr kumimoji="0" lang="es-NI" altLang="es-NI" sz="1800" b="0" i="0" u="none" strike="noStrike" cap="none" normalizeH="0" baseline="0" dirty="0">
                <a:ln>
                  <a:noFill/>
                </a:ln>
                <a:solidFill>
                  <a:schemeClr val="tx1"/>
                </a:solidFill>
                <a:effectLst/>
                <a:latin typeface="Arial" panose="020B0604020202020204" pitchFamily="34" charset="0"/>
              </a:rPr>
              <a:t>en valor FOB retenido, garantizando que no se generen retrasos en el cobro ni contingencias con los compradores.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NI" altLang="es-NI"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NI" altLang="es-NI" sz="1800" b="1" i="0" u="none" strike="noStrike" cap="none" normalizeH="0" baseline="0" dirty="0">
                <a:ln>
                  <a:noFill/>
                </a:ln>
                <a:solidFill>
                  <a:schemeClr val="tx1"/>
                </a:solidFill>
                <a:effectLst/>
                <a:latin typeface="Arial" panose="020B0604020202020204" pitchFamily="34" charset="0"/>
              </a:rPr>
              <a:t> Estrategia de Optimización de Costos:</a:t>
            </a:r>
            <a:r>
              <a:rPr kumimoji="0" lang="es-NI" altLang="es-NI" sz="1800" b="0" i="0" u="none" strike="noStrike" cap="none" normalizeH="0" baseline="0" dirty="0">
                <a:ln>
                  <a:noFill/>
                </a:ln>
                <a:solidFill>
                  <a:schemeClr val="tx1"/>
                </a:solidFill>
                <a:effectLst/>
                <a:latin typeface="Arial" panose="020B0604020202020204" pitchFamily="34" charset="0"/>
              </a:rPr>
              <a:t> El Maní procesado presenta una brecha de rentabilidad de 4.49 puntos porcentuales respecto al promedio general. Se requiere revisar sus costos de empaque o renegociar el precio FOB para llevar sus márgenes a niveles superiores.</a:t>
            </a:r>
          </a:p>
        </p:txBody>
      </p:sp>
    </p:spTree>
    <p:extLst>
      <p:ext uri="{BB962C8B-B14F-4D97-AF65-F5344CB8AC3E}">
        <p14:creationId xmlns:p14="http://schemas.microsoft.com/office/powerpoint/2010/main" val="8357318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BC48F82C-38DB-4DFC-B2D1-4644383312AA}"/>
              </a:ext>
            </a:extLst>
          </p:cNvPr>
          <p:cNvSpPr txBox="1"/>
          <p:nvPr/>
        </p:nvSpPr>
        <p:spPr>
          <a:xfrm>
            <a:off x="4418820" y="619928"/>
            <a:ext cx="3246783" cy="523220"/>
          </a:xfrm>
          <a:prstGeom prst="rect">
            <a:avLst/>
          </a:prstGeom>
          <a:noFill/>
        </p:spPr>
        <p:txBody>
          <a:bodyPr wrap="square" rtlCol="0">
            <a:spAutoFit/>
          </a:bodyPr>
          <a:lstStyle/>
          <a:p>
            <a:pPr algn="ctr"/>
            <a:r>
              <a:rPr lang="es-ES" sz="2800" b="1" dirty="0"/>
              <a:t>Principales hallazgos</a:t>
            </a:r>
            <a:endParaRPr lang="es-NI" sz="2800" b="1" dirty="0"/>
          </a:p>
        </p:txBody>
      </p:sp>
      <p:sp>
        <p:nvSpPr>
          <p:cNvPr id="2" name="Rectangle 1">
            <a:extLst>
              <a:ext uri="{FF2B5EF4-FFF2-40B4-BE49-F238E27FC236}">
                <a16:creationId xmlns:a16="http://schemas.microsoft.com/office/drawing/2014/main" id="{E202C8F7-5780-4F31-8AA9-1968AE2DCE8C}"/>
              </a:ext>
            </a:extLst>
          </p:cNvPr>
          <p:cNvSpPr>
            <a:spLocks noChangeArrowheads="1"/>
          </p:cNvSpPr>
          <p:nvPr/>
        </p:nvSpPr>
        <p:spPr bwMode="auto">
          <a:xfrm>
            <a:off x="833718" y="1508758"/>
            <a:ext cx="960120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NI" altLang="es-NI" sz="1800" b="1" i="0" u="none" strike="noStrike" cap="none" normalizeH="0" baseline="0" dirty="0">
                <a:ln>
                  <a:noFill/>
                </a:ln>
                <a:solidFill>
                  <a:schemeClr val="tx1"/>
                </a:solidFill>
                <a:effectLst/>
                <a:latin typeface="Arial" panose="020B0604020202020204" pitchFamily="34" charset="0"/>
              </a:rPr>
              <a:t>Concentración Comercial por Mercado:</a:t>
            </a:r>
            <a:r>
              <a:rPr kumimoji="0" lang="es-NI" altLang="es-NI" sz="1800" b="0" i="0" u="none" strike="noStrike" cap="none" normalizeH="0" baseline="0" dirty="0">
                <a:ln>
                  <a:noFill/>
                </a:ln>
                <a:solidFill>
                  <a:schemeClr val="tx1"/>
                </a:solidFill>
                <a:effectLst/>
                <a:latin typeface="Arial" panose="020B0604020202020204" pitchFamily="34" charset="0"/>
              </a:rPr>
              <a:t> Cada país destino cuenta con un único cliente distribuidor asignado. La empresa depende fuertemente de </a:t>
            </a:r>
            <a:r>
              <a:rPr kumimoji="0" lang="es-NI" altLang="es-NI" sz="1800" i="0" u="none" strike="noStrike" cap="none" normalizeH="0" baseline="0" dirty="0">
                <a:ln>
                  <a:noFill/>
                </a:ln>
                <a:solidFill>
                  <a:schemeClr val="tx1"/>
                </a:solidFill>
                <a:effectLst/>
                <a:latin typeface="Arial" panose="020B0604020202020204" pitchFamily="34" charset="0"/>
              </a:rPr>
              <a:t>Global Foods </a:t>
            </a:r>
            <a:r>
              <a:rPr kumimoji="0" lang="es-NI" altLang="es-NI" sz="1800" b="0" i="0" u="none" strike="noStrike" cap="none" normalizeH="0" baseline="0" dirty="0">
                <a:ln>
                  <a:noFill/>
                </a:ln>
                <a:solidFill>
                  <a:schemeClr val="tx1"/>
                </a:solidFill>
                <a:effectLst/>
                <a:latin typeface="Arial" panose="020B0604020202020204" pitchFamily="34" charset="0"/>
              </a:rPr>
              <a:t>en EE.UU., comprador que concentra más de la cuarta parte ($168.7K USD) del ingreso total.</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NI" altLang="es-NI"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NI" altLang="es-NI" sz="1800" b="1" i="0" u="none" strike="noStrike" cap="none" normalizeH="0" baseline="0" dirty="0">
                <a:ln>
                  <a:noFill/>
                </a:ln>
                <a:solidFill>
                  <a:schemeClr val="tx1"/>
                </a:solidFill>
                <a:effectLst/>
                <a:latin typeface="Arial" panose="020B0604020202020204" pitchFamily="34" charset="0"/>
              </a:rPr>
              <a:t>Eficiencia de la Estrategia de Costos:</a:t>
            </a:r>
            <a:r>
              <a:rPr kumimoji="0" lang="es-NI" altLang="es-NI" sz="1800" b="0" i="0" u="none" strike="noStrike" cap="none" normalizeH="0" baseline="0" dirty="0">
                <a:ln>
                  <a:noFill/>
                </a:ln>
                <a:solidFill>
                  <a:schemeClr val="tx1"/>
                </a:solidFill>
                <a:effectLst/>
                <a:latin typeface="Arial" panose="020B0604020202020204" pitchFamily="34" charset="0"/>
              </a:rPr>
              <a:t> Los márgenes promedio por país son notablemente parejos (entre 32.04% y 33.04%), lo que refleja una sólida disciplina en la fijación de precios FOB y en el manejo de aranceles regionales.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NI" altLang="es-NI"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NI" altLang="es-NI" sz="1800" b="1" i="0" u="none" strike="noStrike" cap="none" normalizeH="0" baseline="0" dirty="0">
                <a:ln>
                  <a:noFill/>
                </a:ln>
                <a:solidFill>
                  <a:schemeClr val="tx1"/>
                </a:solidFill>
                <a:effectLst/>
                <a:latin typeface="Arial" panose="020B0604020202020204" pitchFamily="34" charset="0"/>
              </a:rPr>
              <a:t>Capacidad Comercial Desaprovechada:</a:t>
            </a:r>
            <a:r>
              <a:rPr kumimoji="0" lang="es-NI" altLang="es-NI" sz="1800" b="0" i="0" u="none" strike="noStrike" cap="none" normalizeH="0" baseline="0" dirty="0">
                <a:ln>
                  <a:noFill/>
                </a:ln>
                <a:solidFill>
                  <a:schemeClr val="tx1"/>
                </a:solidFill>
                <a:effectLst/>
                <a:latin typeface="Arial" panose="020B0604020202020204" pitchFamily="34" charset="0"/>
              </a:rPr>
              <a:t> Aunque el producto de menor margen (Maní procesado) cuenta con una demanda sostenida de 18 operaciones, su retorno financiero está castigado por los costos directos de producción.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NI" altLang="es-NI"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NI" altLang="es-NI" sz="1800" b="1" i="0" u="none" strike="noStrike" cap="none" normalizeH="0" baseline="0" dirty="0">
                <a:ln>
                  <a:noFill/>
                </a:ln>
                <a:solidFill>
                  <a:schemeClr val="tx1"/>
                </a:solidFill>
                <a:effectLst/>
                <a:latin typeface="Arial" panose="020B0604020202020204" pitchFamily="34" charset="0"/>
              </a:rPr>
              <a:t>Capital de Trabajo Comprometido:</a:t>
            </a:r>
            <a:r>
              <a:rPr kumimoji="0" lang="es-NI" altLang="es-NI" sz="1800" b="0" i="0" u="none" strike="noStrike" cap="none" normalizeH="0" baseline="0" dirty="0">
                <a:ln>
                  <a:noFill/>
                </a:ln>
                <a:solidFill>
                  <a:schemeClr val="tx1"/>
                </a:solidFill>
                <a:effectLst/>
                <a:latin typeface="Arial" panose="020B0604020202020204" pitchFamily="34" charset="0"/>
              </a:rPr>
              <a:t> Existe un 15% de la facturación atrapada en la fase previa al embarque, representando un riesgo operativo si no se resuelven los trámites de salida de forma inmediata.</a:t>
            </a:r>
          </a:p>
        </p:txBody>
      </p:sp>
    </p:spTree>
    <p:extLst>
      <p:ext uri="{BB962C8B-B14F-4D97-AF65-F5344CB8AC3E}">
        <p14:creationId xmlns:p14="http://schemas.microsoft.com/office/powerpoint/2010/main" val="39737461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BC48F82C-38DB-4DFC-B2D1-4644383312AA}"/>
              </a:ext>
            </a:extLst>
          </p:cNvPr>
          <p:cNvSpPr txBox="1"/>
          <p:nvPr/>
        </p:nvSpPr>
        <p:spPr>
          <a:xfrm>
            <a:off x="2818620" y="512352"/>
            <a:ext cx="6500192" cy="523220"/>
          </a:xfrm>
          <a:prstGeom prst="rect">
            <a:avLst/>
          </a:prstGeom>
          <a:noFill/>
        </p:spPr>
        <p:txBody>
          <a:bodyPr wrap="square" rtlCol="0">
            <a:spAutoFit/>
          </a:bodyPr>
          <a:lstStyle/>
          <a:p>
            <a:pPr algn="ctr"/>
            <a:r>
              <a:rPr lang="es-ES" sz="2800" b="1" dirty="0"/>
              <a:t>Conclusiones y recomendaciones</a:t>
            </a:r>
            <a:endParaRPr lang="es-NI" sz="2800" b="1" dirty="0"/>
          </a:p>
        </p:txBody>
      </p:sp>
      <p:sp>
        <p:nvSpPr>
          <p:cNvPr id="5" name="CuadroTexto 4">
            <a:extLst>
              <a:ext uri="{FF2B5EF4-FFF2-40B4-BE49-F238E27FC236}">
                <a16:creationId xmlns:a16="http://schemas.microsoft.com/office/drawing/2014/main" id="{6BE41E5A-C22B-4018-A14C-2F3CC90E2C68}"/>
              </a:ext>
            </a:extLst>
          </p:cNvPr>
          <p:cNvSpPr txBox="1"/>
          <p:nvPr/>
        </p:nvSpPr>
        <p:spPr>
          <a:xfrm>
            <a:off x="897590" y="1071405"/>
            <a:ext cx="10236574" cy="1569660"/>
          </a:xfrm>
          <a:prstGeom prst="rect">
            <a:avLst/>
          </a:prstGeom>
          <a:noFill/>
        </p:spPr>
        <p:txBody>
          <a:bodyPr wrap="square">
            <a:spAutoFit/>
          </a:bodyPr>
          <a:lstStyle/>
          <a:p>
            <a:pPr rtl="0"/>
            <a:r>
              <a:rPr lang="es-MX" sz="1600" b="1" dirty="0">
                <a:effectLst/>
                <a:latin typeface="Arial" panose="020B0604020202020204" pitchFamily="34" charset="0"/>
                <a:cs typeface="Arial" panose="020B0604020202020204" pitchFamily="34" charset="0"/>
              </a:rPr>
              <a:t>Conclusiones:</a:t>
            </a:r>
            <a:endParaRPr lang="es-MX" sz="1600" dirty="0">
              <a:effectLst/>
              <a:latin typeface="Arial" panose="020B0604020202020204" pitchFamily="34" charset="0"/>
              <a:cs typeface="Arial" panose="020B0604020202020204" pitchFamily="34" charset="0"/>
            </a:endParaRPr>
          </a:p>
          <a:p>
            <a:pPr marL="742950" lvl="1" indent="-285750" rtl="0">
              <a:buFont typeface="Arial" panose="020B0604020202020204" pitchFamily="34" charset="0"/>
              <a:buChar char="•"/>
            </a:pPr>
            <a:r>
              <a:rPr lang="es-MX" sz="1600" dirty="0">
                <a:effectLst/>
                <a:latin typeface="Arial" panose="020B0604020202020204" pitchFamily="34" charset="0"/>
                <a:cs typeface="Arial" panose="020B0604020202020204" pitchFamily="34" charset="0"/>
              </a:rPr>
              <a:t>NicaExport Trading, S.A. posee un modelo agroexportador sólido, rentable y bien estructurado, con una facturación semestral superior a los $658 mil dólares y un margen promedio del 32.54%.</a:t>
            </a:r>
          </a:p>
          <a:p>
            <a:pPr marL="742950" lvl="1" indent="-285750" rtl="0">
              <a:buFont typeface="Arial" panose="020B0604020202020204" pitchFamily="34" charset="0"/>
              <a:buChar char="•"/>
            </a:pPr>
            <a:r>
              <a:rPr lang="es-MX" sz="1600" dirty="0">
                <a:effectLst/>
                <a:latin typeface="Arial" panose="020B0604020202020204" pitchFamily="34" charset="0"/>
                <a:cs typeface="Arial" panose="020B0604020202020204" pitchFamily="34" charset="0"/>
              </a:rPr>
              <a:t>Estados Unidos y España son los motores del crecimiento financiero, mientras que el Café especial es el motor de valor del catálogo.</a:t>
            </a:r>
          </a:p>
          <a:p>
            <a:pPr marL="742950" lvl="1" indent="-285750" rtl="0">
              <a:buFont typeface="Arial" panose="020B0604020202020204" pitchFamily="34" charset="0"/>
              <a:buChar char="•"/>
            </a:pPr>
            <a:endParaRPr lang="es-MX" sz="1600" dirty="0">
              <a:effectLst/>
            </a:endParaRPr>
          </a:p>
        </p:txBody>
      </p:sp>
      <p:sp>
        <p:nvSpPr>
          <p:cNvPr id="7" name="Rectangle 3">
            <a:extLst>
              <a:ext uri="{FF2B5EF4-FFF2-40B4-BE49-F238E27FC236}">
                <a16:creationId xmlns:a16="http://schemas.microsoft.com/office/drawing/2014/main" id="{F98AC070-69A9-4456-88C7-2D875EFE81A3}"/>
              </a:ext>
            </a:extLst>
          </p:cNvPr>
          <p:cNvSpPr>
            <a:spLocks noChangeArrowheads="1"/>
          </p:cNvSpPr>
          <p:nvPr/>
        </p:nvSpPr>
        <p:spPr bwMode="auto">
          <a:xfrm>
            <a:off x="874058" y="2333685"/>
            <a:ext cx="1093246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s-NI" altLang="es-NI" sz="1600" b="1" dirty="0">
                <a:latin typeface="Arial" panose="020B0604020202020204" pitchFamily="34" charset="0"/>
              </a:rPr>
              <a:t>Recomendaciones</a:t>
            </a:r>
            <a:endParaRPr kumimoji="0" lang="es-NI" altLang="es-NI"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NI" altLang="es-NI" sz="1600" b="1" i="0" u="none" strike="noStrike" cap="none" normalizeH="0" baseline="0" dirty="0">
                <a:ln>
                  <a:noFill/>
                </a:ln>
                <a:solidFill>
                  <a:schemeClr val="tx1"/>
                </a:solidFill>
                <a:effectLst/>
                <a:latin typeface="Arial" panose="020B0604020202020204" pitchFamily="34" charset="0"/>
              </a:rPr>
              <a:t>Aprovechar el impulso del Café Especial en Estados Unidos:</a:t>
            </a:r>
          </a:p>
          <a:p>
            <a:pPr marL="0" marR="0" lvl="0" indent="0" algn="l" defTabSz="914400" rtl="0" eaLnBrk="0" fontAlgn="base" latinLnBrk="0" hangingPunct="0">
              <a:lnSpc>
                <a:spcPct val="100000"/>
              </a:lnSpc>
              <a:spcBef>
                <a:spcPct val="0"/>
              </a:spcBef>
              <a:spcAft>
                <a:spcPct val="0"/>
              </a:spcAft>
              <a:buClrTx/>
              <a:buSzTx/>
              <a:buFontTx/>
              <a:buNone/>
              <a:tabLst/>
            </a:pPr>
            <a:r>
              <a:rPr kumimoji="0" lang="es-NI" altLang="es-NI" sz="1600" i="0" u="none" strike="noStrike" cap="none" normalizeH="0" baseline="0" dirty="0">
                <a:ln>
                  <a:noFill/>
                </a:ln>
                <a:solidFill>
                  <a:schemeClr val="tx1"/>
                </a:solidFill>
                <a:effectLst/>
                <a:latin typeface="Arial" panose="020B0604020202020204" pitchFamily="34" charset="0"/>
              </a:rPr>
              <a:t>Dado que el Café especial es nuestro producto más rentable (36.92% de margen) y con mayor facturación ($170,170.00 USD), y que EE.UU. es nuestro mercado principal (concentra el 25.63% de los ingresos globales a través de Global Foods), debemos cerrar acuerdos comerciales de largo plazo en este destino. Esta combinación nos permite maximizar ganancias en el mercado de mayor valor de la empresa.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NI" altLang="es-NI" sz="16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NI" altLang="es-NI" sz="1600" b="1" i="0" u="none" strike="noStrike" cap="none" normalizeH="0" baseline="0" dirty="0">
                <a:ln>
                  <a:noFill/>
                </a:ln>
                <a:solidFill>
                  <a:schemeClr val="tx1"/>
                </a:solidFill>
                <a:effectLst/>
                <a:latin typeface="Arial" panose="020B0604020202020204" pitchFamily="34" charset="0"/>
              </a:rPr>
              <a:t> Ajustar la estructura de costos del Maní Procesado</a:t>
            </a:r>
          </a:p>
          <a:p>
            <a:pPr marL="0" marR="0" lvl="0" indent="0" algn="l" defTabSz="914400" rtl="0" eaLnBrk="0" fontAlgn="base" latinLnBrk="0" hangingPunct="0">
              <a:lnSpc>
                <a:spcPct val="100000"/>
              </a:lnSpc>
              <a:spcBef>
                <a:spcPct val="0"/>
              </a:spcBef>
              <a:spcAft>
                <a:spcPct val="0"/>
              </a:spcAft>
              <a:buClrTx/>
              <a:buSzTx/>
              <a:buFontTx/>
              <a:buNone/>
              <a:tabLst/>
            </a:pPr>
            <a:r>
              <a:rPr kumimoji="0" lang="es-NI" altLang="es-NI" sz="1600" i="0" u="none" strike="noStrike" cap="none" normalizeH="0" baseline="0" dirty="0">
                <a:ln>
                  <a:noFill/>
                </a:ln>
                <a:solidFill>
                  <a:schemeClr val="tx1"/>
                </a:solidFill>
                <a:effectLst/>
                <a:latin typeface="Arial" panose="020B0604020202020204" pitchFamily="34" charset="0"/>
              </a:rPr>
              <a:t>Aunque el Maní procesado sostiene un flujo constante con 18 operaciones, genera el margen de utilidad más bajo del portafolio (28.05%, quedando casi 4.5 puntos por debajo de la media global del 32.54%). Para solucionar esto, conviene renegociar las tarifas de empaque y transporte en Centroamérica, o bien ajustar levemente su precio FOB, para elevar su rentabilidad sin perder competitividad.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NI" altLang="es-NI" sz="16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NI" altLang="es-NI" sz="1600" b="1" i="0" u="none" strike="noStrike" cap="none" normalizeH="0" baseline="0" dirty="0">
                <a:ln>
                  <a:noFill/>
                </a:ln>
                <a:solidFill>
                  <a:schemeClr val="tx1"/>
                </a:solidFill>
                <a:effectLst/>
                <a:latin typeface="Arial" panose="020B0604020202020204" pitchFamily="34" charset="0"/>
              </a:rPr>
              <a:t> Desbloquear el 15% de las exportaciones pendientes</a:t>
            </a:r>
          </a:p>
          <a:p>
            <a:pPr marL="0" marR="0" lvl="0" indent="0" algn="l" defTabSz="914400" rtl="0" eaLnBrk="0" fontAlgn="base" latinLnBrk="0" hangingPunct="0">
              <a:lnSpc>
                <a:spcPct val="100000"/>
              </a:lnSpc>
              <a:spcBef>
                <a:spcPct val="0"/>
              </a:spcBef>
              <a:spcAft>
                <a:spcPct val="0"/>
              </a:spcAft>
              <a:buClrTx/>
              <a:buSzTx/>
              <a:buFontTx/>
              <a:buNone/>
              <a:tabLst/>
            </a:pPr>
            <a:r>
              <a:rPr kumimoji="0" lang="es-NI" altLang="es-NI" sz="1600" i="0" u="none" strike="noStrike" cap="none" normalizeH="0" baseline="0" dirty="0">
                <a:ln>
                  <a:noFill/>
                </a:ln>
                <a:solidFill>
                  <a:schemeClr val="tx1"/>
                </a:solidFill>
                <a:effectLst/>
                <a:latin typeface="Arial" panose="020B0604020202020204" pitchFamily="34" charset="0"/>
              </a:rPr>
              <a:t>Actualmente acumulamos 15 operaciones en estado "Pendiente", lo que mantiene retenidos $93,445.00 USD en valor FOB antes de su despacho. Urge coordinar un seguimiento semanal entre el área operativa y aduanas para agilizar estos trámites de salida, evitando así problemas de liquidez, costos imprevistos de almacenaje o descontento en los compradores.</a:t>
            </a:r>
          </a:p>
        </p:txBody>
      </p:sp>
    </p:spTree>
    <p:extLst>
      <p:ext uri="{BB962C8B-B14F-4D97-AF65-F5344CB8AC3E}">
        <p14:creationId xmlns:p14="http://schemas.microsoft.com/office/powerpoint/2010/main" val="331599029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358</TotalTime>
  <Words>1281</Words>
  <Application>Microsoft Office PowerPoint</Application>
  <PresentationFormat>Panorámica</PresentationFormat>
  <Paragraphs>76</Paragraphs>
  <Slides>8</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8</vt:i4>
      </vt:variant>
    </vt:vector>
  </HeadingPairs>
  <TitlesOfParts>
    <vt:vector size="15" baseType="lpstr">
      <vt:lpstr>Arial</vt:lpstr>
      <vt:lpstr>Calibri</vt:lpstr>
      <vt:lpstr>Calibri Light</vt:lpstr>
      <vt:lpstr>Segoe UI</vt:lpstr>
      <vt:lpstr>Times New Roman</vt:lpstr>
      <vt:lpstr>WordVisiCarriageReturn_MSFontService</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Laboratorio C108</dc:creator>
  <cp:lastModifiedBy>Tatiana Andrade</cp:lastModifiedBy>
  <cp:revision>10</cp:revision>
  <dcterms:created xsi:type="dcterms:W3CDTF">2026-09-03T20:52:11Z</dcterms:created>
  <dcterms:modified xsi:type="dcterms:W3CDTF">2026-09-09T22:56:14Z</dcterms:modified>
</cp:coreProperties>
</file>